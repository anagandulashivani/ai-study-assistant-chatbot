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5.svg" ContentType="image/svg+xml"/>
  <Override PartName="/ppt/media/image17.svg" ContentType="image/svg+xml"/>
  <Override PartName="/ppt/media/image18.svg" ContentType="image/svg+xml"/>
  <Override PartName="/ppt/media/image19.svg" ContentType="image/svg+xml"/>
  <Override PartName="/ppt/media/image20.svg" ContentType="image/svg+xml"/>
  <Override PartName="/ppt/media/image3.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embeddedFontLst>
    <p:embeddedFont>
      <p:font typeface="Consolas" panose="020B0609020204030204" pitchFamily="49" charset="0"/>
      <p:regular r:id="rId17"/>
      <p:bold r:id="rId18"/>
      <p:italic r:id="rId19"/>
      <p:boldItalic r:id="rId20"/>
    </p:embeddedFont>
    <p:embeddedFont>
      <p:font typeface="Inter" panose="020B0604020202020204" charset="0"/>
      <p:regular r:id="rId21"/>
    </p:embeddedFont>
    <p:embeddedFont>
      <p:font typeface="Inter Bold" panose="020B0604020202020204" charset="0"/>
      <p:regular r:id="rId2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19939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E6E6E6"/>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svg"/><Relationship Id="rId6" Type="http://schemas.openxmlformats.org/officeDocument/2006/relationships/image" Target="../media/image5.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sv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0.jpe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22.png"/><Relationship Id="rId9" Type="http://schemas.openxmlformats.org/officeDocument/2006/relationships/image" Target="../media/image23.png"/><Relationship Id="rId10" Type="http://schemas.openxmlformats.org/officeDocument/2006/relationships/image" Target="../media/image24.png"/><Relationship Id="rId11"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7.svg"/><Relationship Id="rId4" Type="http://schemas.openxmlformats.org/officeDocument/2006/relationships/image" Target="../media/image18.svg"/><Relationship Id="rId5" Type="http://schemas.openxmlformats.org/officeDocument/2006/relationships/image" Target="../media/image19.svg"/><Relationship Id="rId6" Type="http://schemas.openxmlformats.org/officeDocument/2006/relationships/image" Target="../media/image2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D9DFF2"/>
          </a:solidFill>
          <a:ln/>
        </p:spPr>
      </p:sp>
      <p:pic>
        <p:nvPicPr>
          <p:cNvPr id="3" name="Image 0" descr="preencoded.png"/>
          <p:cNvPicPr>
            <a:picLocks noChangeAspect="1"/>
          </p:cNvPicPr>
          <p:nvPr/>
        </p:nvPicPr>
        <p:blipFill>
          <a:blip r:embed="rId3"/>
          <a:stretch>
            <a:fillRect/>
          </a:stretch>
        </p:blipFill>
        <p:spPr>
          <a:xfrm>
            <a:off x="7702457" y="491232"/>
            <a:ext cx="4406492" cy="5875536"/>
          </a:xfrm>
          <a:prstGeom prst="rect">
            <a:avLst/>
          </a:prstGeom>
        </p:spPr>
      </p:pic>
      <p:sp>
        <p:nvSpPr>
          <p:cNvPr id="4" name="Text 1"/>
          <p:cNvSpPr/>
          <p:nvPr/>
        </p:nvSpPr>
        <p:spPr>
          <a:xfrm>
            <a:off x="661475" y="1783080"/>
            <a:ext cx="6296860" cy="960120"/>
          </a:xfrm>
          <a:prstGeom prst="rect">
            <a:avLst/>
          </a:prstGeom>
          <a:noFill/>
          <a:ln/>
        </p:spPr>
        <p:txBody>
          <a:bodyPr wrap="square" lIns="0" tIns="0" rIns="0" bIns="0" rtlCol="0" anchor="t"/>
          <a:lstStyle/>
          <a:p>
            <a:pPr marL="0" indent="0" algn="l">
              <a:lnSpc>
                <a:spcPct val="104000"/>
              </a:lnSpc>
              <a:buNone/>
            </a:pPr>
            <a:r>
              <a:rPr lang="en-US" sz="2800" b="1" dirty="0">
                <a:solidFill>
                  <a:srgbClr val="000000"/>
                </a:solidFill>
                <a:latin typeface="Inter Bold" pitchFamily="34" charset="0"/>
                <a:ea typeface="Inter Bold" pitchFamily="34" charset="-122"/>
                <a:cs typeface="Inter Bold" pitchFamily="34" charset="-120"/>
              </a:rPr>
              <a:t>AI Study Assistant Chatbot Using Generative AI</a:t>
            </a:r>
            <a:endParaRPr lang="en-US" sz="3250" dirty="0"/>
          </a:p>
        </p:txBody>
      </p:sp>
      <p:sp>
        <p:nvSpPr>
          <p:cNvPr id="5" name="Text 2"/>
          <p:cNvSpPr/>
          <p:nvPr/>
        </p:nvSpPr>
        <p:spPr>
          <a:xfrm>
            <a:off x="661475" y="2937867"/>
            <a:ext cx="6296860"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Learning Block 1 — Generative AI Application</a:t>
            </a:r>
            <a:endParaRPr lang="en-US" sz="1600" dirty="0"/>
          </a:p>
        </p:txBody>
      </p:sp>
      <p:sp>
        <p:nvSpPr>
          <p:cNvPr id="6" name="Text 3"/>
          <p:cNvSpPr/>
          <p:nvPr/>
        </p:nvSpPr>
        <p:spPr>
          <a:xfrm>
            <a:off x="661475" y="3444379"/>
            <a:ext cx="6296860"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Submitted by </a:t>
            </a:r>
            <a:r>
              <a:rPr lang="en-US" sz="1300" b="1" dirty="0">
                <a:solidFill>
                  <a:srgbClr val="000000"/>
                </a:solidFill>
                <a:latin typeface="Inter Bold" pitchFamily="34" charset="0"/>
                <a:ea typeface="Inter Bold" pitchFamily="34" charset="-122"/>
                <a:cs typeface="Inter Bold" pitchFamily="34" charset="-120"/>
              </a:rPr>
              <a:t>ANAGANDULA SHIVANI (236F1A6703)</a:t>
            </a:r>
            <a:r>
              <a:rPr lang="en-US" sz="1300" dirty="0">
                <a:solidFill>
                  <a:srgbClr val="000000"/>
                </a:solidFill>
                <a:latin typeface="Inter" pitchFamily="34" charset="0"/>
                <a:ea typeface="Inter" pitchFamily="34" charset="-122"/>
                <a:cs typeface="Inter" pitchFamily="34" charset="-120"/>
              </a:rPr>
              <a:t> | </a:t>
            </a:r>
            <a:r>
              <a:rPr lang="en-US" sz="1300" b="1" dirty="0">
                <a:solidFill>
                  <a:srgbClr val="000000"/>
                </a:solidFill>
                <a:latin typeface="Inter Bold" pitchFamily="34" charset="0"/>
                <a:ea typeface="Inter Bold" pitchFamily="34" charset="-122"/>
                <a:cs typeface="Inter Bold" pitchFamily="34" charset="-120"/>
              </a:rPr>
              <a:t>Pallavi Engineering College</a:t>
            </a:r>
            <a:endParaRPr lang="en-US" sz="1300" dirty="0"/>
          </a:p>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Department of CSE (Data Science) · Academic Year: 2026–2027</a:t>
            </a:r>
            <a:endParaRPr lang="en-US" sz="1300" dirty="0"/>
          </a:p>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Guided by: </a:t>
            </a:r>
            <a:r>
              <a:rPr lang="en-US" sz="1300" b="1" dirty="0">
                <a:solidFill>
                  <a:srgbClr val="000000"/>
                </a:solidFill>
                <a:latin typeface="Inter Bold" pitchFamily="34" charset="0"/>
                <a:ea typeface="Inter Bold" pitchFamily="34" charset="-122"/>
                <a:cs typeface="Inter Bold" pitchFamily="34" charset="-120"/>
              </a:rPr>
              <a:t>Mr. Ragavendra Roa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540371"/>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Navigation</a:t>
            </a:r>
            <a:endParaRPr lang="en-US" sz="1600" dirty="0"/>
          </a:p>
        </p:txBody>
      </p:sp>
      <p:sp>
        <p:nvSpPr>
          <p:cNvPr id="3" name="Text 1"/>
          <p:cNvSpPr/>
          <p:nvPr/>
        </p:nvSpPr>
        <p:spPr>
          <a:xfrm>
            <a:off x="661475" y="1864916"/>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Index</a:t>
            </a:r>
            <a:endParaRPr lang="en-US" sz="3250" dirty="0"/>
          </a:p>
        </p:txBody>
      </p:sp>
      <p:sp>
        <p:nvSpPr>
          <p:cNvPr id="4" name="Text 2"/>
          <p:cNvSpPr/>
          <p:nvPr/>
        </p:nvSpPr>
        <p:spPr>
          <a:xfrm>
            <a:off x="661475" y="2629694"/>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Inter Light" pitchFamily="34" charset="0"/>
                <a:ea typeface="Inter Light" pitchFamily="34" charset="-122"/>
                <a:cs typeface="Inter Light" pitchFamily="34" charset="-120"/>
              </a:rPr>
              <a:t>01</a:t>
            </a:r>
            <a:endParaRPr lang="en-US" sz="1300" dirty="0"/>
          </a:p>
        </p:txBody>
      </p:sp>
      <p:sp>
        <p:nvSpPr>
          <p:cNvPr id="5" name="Shape 3"/>
          <p:cNvSpPr/>
          <p:nvPr/>
        </p:nvSpPr>
        <p:spPr>
          <a:xfrm>
            <a:off x="661475" y="2891631"/>
            <a:ext cx="3512653" cy="19050"/>
          </a:xfrm>
          <a:prstGeom prst="rect">
            <a:avLst/>
          </a:prstGeom>
          <a:solidFill>
            <a:srgbClr val="213163"/>
          </a:solidFill>
          <a:ln/>
        </p:spPr>
      </p:sp>
      <p:sp>
        <p:nvSpPr>
          <p:cNvPr id="6" name="Text 4"/>
          <p:cNvSpPr/>
          <p:nvPr/>
        </p:nvSpPr>
        <p:spPr>
          <a:xfrm>
            <a:off x="661475" y="3012380"/>
            <a:ext cx="3512653"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Introduction</a:t>
            </a:r>
            <a:endParaRPr lang="en-US" sz="1600" dirty="0"/>
          </a:p>
        </p:txBody>
      </p:sp>
      <p:sp>
        <p:nvSpPr>
          <p:cNvPr id="7" name="Text 5"/>
          <p:cNvSpPr/>
          <p:nvPr/>
        </p:nvSpPr>
        <p:spPr>
          <a:xfrm>
            <a:off x="661475" y="3370064"/>
            <a:ext cx="3512653"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Overview of the application, its purpose, and key features</a:t>
            </a:r>
            <a:endParaRPr lang="en-US" sz="1300" dirty="0"/>
          </a:p>
        </p:txBody>
      </p:sp>
      <p:sp>
        <p:nvSpPr>
          <p:cNvPr id="8" name="Text 6"/>
          <p:cNvSpPr/>
          <p:nvPr/>
        </p:nvSpPr>
        <p:spPr>
          <a:xfrm>
            <a:off x="4339422" y="2629694"/>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Inter Light" pitchFamily="34" charset="0"/>
                <a:ea typeface="Inter Light" pitchFamily="34" charset="-122"/>
                <a:cs typeface="Inter Light" pitchFamily="34" charset="-120"/>
              </a:rPr>
              <a:t>02</a:t>
            </a:r>
            <a:endParaRPr lang="en-US" sz="1300" dirty="0"/>
          </a:p>
        </p:txBody>
      </p:sp>
      <p:sp>
        <p:nvSpPr>
          <p:cNvPr id="9" name="Shape 7"/>
          <p:cNvSpPr/>
          <p:nvPr/>
        </p:nvSpPr>
        <p:spPr>
          <a:xfrm>
            <a:off x="4339422" y="2891631"/>
            <a:ext cx="3512752" cy="19050"/>
          </a:xfrm>
          <a:prstGeom prst="rect">
            <a:avLst/>
          </a:prstGeom>
          <a:solidFill>
            <a:srgbClr val="213163"/>
          </a:solidFill>
          <a:ln/>
        </p:spPr>
      </p:sp>
      <p:sp>
        <p:nvSpPr>
          <p:cNvPr id="10" name="Text 8"/>
          <p:cNvSpPr/>
          <p:nvPr/>
        </p:nvSpPr>
        <p:spPr>
          <a:xfrm>
            <a:off x="4339422" y="3012380"/>
            <a:ext cx="3512752"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Problem Statement &amp; Objectives</a:t>
            </a:r>
            <a:endParaRPr lang="en-US" sz="1600" dirty="0"/>
          </a:p>
        </p:txBody>
      </p:sp>
      <p:sp>
        <p:nvSpPr>
          <p:cNvPr id="11" name="Text 9"/>
          <p:cNvSpPr/>
          <p:nvPr/>
        </p:nvSpPr>
        <p:spPr>
          <a:xfrm>
            <a:off x="4339422" y="3370064"/>
            <a:ext cx="3512752"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The real-world gap this project addresses and measurable goals</a:t>
            </a:r>
            <a:endParaRPr lang="en-US" sz="1300" dirty="0"/>
          </a:p>
        </p:txBody>
      </p:sp>
      <p:sp>
        <p:nvSpPr>
          <p:cNvPr id="12" name="Text 10"/>
          <p:cNvSpPr/>
          <p:nvPr/>
        </p:nvSpPr>
        <p:spPr>
          <a:xfrm>
            <a:off x="8017468" y="2629694"/>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Inter Light" pitchFamily="34" charset="0"/>
                <a:ea typeface="Inter Light" pitchFamily="34" charset="-122"/>
                <a:cs typeface="Inter Light" pitchFamily="34" charset="-120"/>
              </a:rPr>
              <a:t>03</a:t>
            </a:r>
            <a:endParaRPr lang="en-US" sz="1300" dirty="0"/>
          </a:p>
        </p:txBody>
      </p:sp>
      <p:sp>
        <p:nvSpPr>
          <p:cNvPr id="13" name="Shape 11"/>
          <p:cNvSpPr/>
          <p:nvPr/>
        </p:nvSpPr>
        <p:spPr>
          <a:xfrm>
            <a:off x="8017468" y="2891631"/>
            <a:ext cx="3512653" cy="19050"/>
          </a:xfrm>
          <a:prstGeom prst="rect">
            <a:avLst/>
          </a:prstGeom>
          <a:solidFill>
            <a:srgbClr val="213163"/>
          </a:solidFill>
          <a:ln/>
        </p:spPr>
      </p:sp>
      <p:sp>
        <p:nvSpPr>
          <p:cNvPr id="14" name="Text 12"/>
          <p:cNvSpPr/>
          <p:nvPr/>
        </p:nvSpPr>
        <p:spPr>
          <a:xfrm>
            <a:off x="8017468" y="3012380"/>
            <a:ext cx="3512653"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Scope &amp; Methodology</a:t>
            </a:r>
            <a:endParaRPr lang="en-US" sz="1600" dirty="0"/>
          </a:p>
        </p:txBody>
      </p:sp>
      <p:sp>
        <p:nvSpPr>
          <p:cNvPr id="15" name="Text 13"/>
          <p:cNvSpPr/>
          <p:nvPr/>
        </p:nvSpPr>
        <p:spPr>
          <a:xfrm>
            <a:off x="8017468" y="3370064"/>
            <a:ext cx="3512653"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Project boundaries, target users, and end-to-end approach</a:t>
            </a:r>
            <a:endParaRPr lang="en-US" sz="1300" dirty="0"/>
          </a:p>
        </p:txBody>
      </p:sp>
      <p:sp>
        <p:nvSpPr>
          <p:cNvPr id="16" name="Text 14"/>
          <p:cNvSpPr/>
          <p:nvPr/>
        </p:nvSpPr>
        <p:spPr>
          <a:xfrm>
            <a:off x="661475" y="4188619"/>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Inter Light" pitchFamily="34" charset="0"/>
                <a:ea typeface="Inter Light" pitchFamily="34" charset="-122"/>
                <a:cs typeface="Inter Light" pitchFamily="34" charset="-120"/>
              </a:rPr>
              <a:t>04</a:t>
            </a:r>
            <a:endParaRPr lang="en-US" sz="1300" dirty="0"/>
          </a:p>
        </p:txBody>
      </p:sp>
      <p:sp>
        <p:nvSpPr>
          <p:cNvPr id="17" name="Shape 15"/>
          <p:cNvSpPr/>
          <p:nvPr/>
        </p:nvSpPr>
        <p:spPr>
          <a:xfrm>
            <a:off x="661475" y="4450556"/>
            <a:ext cx="5351626" cy="19050"/>
          </a:xfrm>
          <a:prstGeom prst="rect">
            <a:avLst/>
          </a:prstGeom>
          <a:solidFill>
            <a:srgbClr val="213163"/>
          </a:solidFill>
          <a:ln/>
        </p:spPr>
      </p:sp>
      <p:sp>
        <p:nvSpPr>
          <p:cNvPr id="18" name="Text 16"/>
          <p:cNvSpPr/>
          <p:nvPr/>
        </p:nvSpPr>
        <p:spPr>
          <a:xfrm>
            <a:off x="661475" y="4571305"/>
            <a:ext cx="535162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Architecture &amp; Implementation</a:t>
            </a:r>
            <a:endParaRPr lang="en-US" sz="1600" dirty="0"/>
          </a:p>
        </p:txBody>
      </p:sp>
      <p:sp>
        <p:nvSpPr>
          <p:cNvPr id="19" name="Text 17"/>
          <p:cNvSpPr/>
          <p:nvPr/>
        </p:nvSpPr>
        <p:spPr>
          <a:xfrm>
            <a:off x="661475" y="4928989"/>
            <a:ext cx="5351626"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System design, technology stack, and integration details</a:t>
            </a:r>
            <a:endParaRPr lang="en-US" sz="1300" dirty="0"/>
          </a:p>
        </p:txBody>
      </p:sp>
      <p:sp>
        <p:nvSpPr>
          <p:cNvPr id="20" name="Text 18"/>
          <p:cNvSpPr/>
          <p:nvPr/>
        </p:nvSpPr>
        <p:spPr>
          <a:xfrm>
            <a:off x="6178395" y="4188619"/>
            <a:ext cx="330688" cy="206673"/>
          </a:xfrm>
          <a:prstGeom prst="rect">
            <a:avLst/>
          </a:prstGeom>
          <a:noFill/>
          <a:ln/>
        </p:spPr>
        <p:txBody>
          <a:bodyPr wrap="none" lIns="0" tIns="0" rIns="0" bIns="0" rtlCol="0" anchor="ctr"/>
          <a:lstStyle/>
          <a:p>
            <a:pPr marL="0" indent="0" algn="l">
              <a:lnSpc>
                <a:spcPct val="100000"/>
              </a:lnSpc>
              <a:buNone/>
            </a:pPr>
            <a:r>
              <a:rPr lang="en-US" sz="1300" dirty="0">
                <a:solidFill>
                  <a:srgbClr val="000000"/>
                </a:solidFill>
                <a:latin typeface="Inter Light" pitchFamily="34" charset="0"/>
                <a:ea typeface="Inter Light" pitchFamily="34" charset="-122"/>
                <a:cs typeface="Inter Light" pitchFamily="34" charset="-120"/>
              </a:rPr>
              <a:t>05</a:t>
            </a:r>
            <a:endParaRPr lang="en-US" sz="1300" dirty="0"/>
          </a:p>
        </p:txBody>
      </p:sp>
      <p:sp>
        <p:nvSpPr>
          <p:cNvPr id="21" name="Shape 19"/>
          <p:cNvSpPr/>
          <p:nvPr/>
        </p:nvSpPr>
        <p:spPr>
          <a:xfrm>
            <a:off x="6178395" y="4450556"/>
            <a:ext cx="5351725" cy="19050"/>
          </a:xfrm>
          <a:prstGeom prst="rect">
            <a:avLst/>
          </a:prstGeom>
          <a:solidFill>
            <a:srgbClr val="213163"/>
          </a:solidFill>
          <a:ln/>
        </p:spPr>
      </p:sp>
      <p:sp>
        <p:nvSpPr>
          <p:cNvPr id="22" name="Text 20"/>
          <p:cNvSpPr/>
          <p:nvPr/>
        </p:nvSpPr>
        <p:spPr>
          <a:xfrm>
            <a:off x="6178395" y="4571305"/>
            <a:ext cx="535172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Results, Challenges &amp; Future</a:t>
            </a:r>
            <a:endParaRPr lang="en-US" sz="1600" dirty="0"/>
          </a:p>
        </p:txBody>
      </p:sp>
      <p:sp>
        <p:nvSpPr>
          <p:cNvPr id="23" name="Text 21"/>
          <p:cNvSpPr/>
          <p:nvPr/>
        </p:nvSpPr>
        <p:spPr>
          <a:xfrm>
            <a:off x="6178395" y="4928989"/>
            <a:ext cx="5351725"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UI walkthrough, limitations, conclusion, and roadmap</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D9DFF2"/>
          </a:solidFill>
          <a:ln/>
        </p:spPr>
      </p:sp>
      <p:pic>
        <p:nvPicPr>
          <p:cNvPr id="3" name="Image 0" descr="preencoded.png"/>
          <p:cNvPicPr>
            <a:picLocks noChangeAspect="1"/>
          </p:cNvPicPr>
          <p:nvPr/>
        </p:nvPicPr>
        <p:blipFill>
          <a:blip r:embed="rId3"/>
          <a:stretch>
            <a:fillRect/>
          </a:stretch>
        </p:blipFill>
        <p:spPr>
          <a:xfrm>
            <a:off x="7690848" y="475754"/>
            <a:ext cx="4429709" cy="5906492"/>
          </a:xfrm>
          <a:prstGeom prst="rect">
            <a:avLst/>
          </a:prstGeom>
        </p:spPr>
      </p:pic>
      <p:sp>
        <p:nvSpPr>
          <p:cNvPr id="4" name="Shape 1"/>
          <p:cNvSpPr/>
          <p:nvPr/>
        </p:nvSpPr>
        <p:spPr>
          <a:xfrm>
            <a:off x="661475" y="514747"/>
            <a:ext cx="781725" cy="215801"/>
          </a:xfrm>
          <a:prstGeom prst="roundRect">
            <a:avLst>
              <a:gd name="adj" fmla="val 22130"/>
            </a:avLst>
          </a:prstGeom>
          <a:solidFill>
            <a:srgbClr val="D9DFF2"/>
          </a:solidFill>
          <a:ln/>
        </p:spPr>
      </p:sp>
      <p:sp>
        <p:nvSpPr>
          <p:cNvPr id="5" name="Text 2"/>
          <p:cNvSpPr/>
          <p:nvPr/>
        </p:nvSpPr>
        <p:spPr>
          <a:xfrm>
            <a:off x="746702" y="557312"/>
            <a:ext cx="1220856" cy="130671"/>
          </a:xfrm>
          <a:prstGeom prst="rect">
            <a:avLst/>
          </a:prstGeom>
          <a:noFill/>
          <a:ln/>
        </p:spPr>
        <p:txBody>
          <a:bodyPr wrap="none" lIns="0" tIns="0" rIns="0" bIns="0" rtlCol="0" anchor="t"/>
          <a:lstStyle/>
          <a:p>
            <a:pPr marL="0" indent="0" algn="l">
              <a:lnSpc>
                <a:spcPct val="96000"/>
              </a:lnSpc>
              <a:buNone/>
            </a:pPr>
            <a:r>
              <a:rPr lang="en-US" sz="850" dirty="0">
                <a:solidFill>
                  <a:srgbClr val="000000"/>
                </a:solidFill>
                <a:latin typeface="Inter" pitchFamily="34" charset="0"/>
                <a:ea typeface="Inter" pitchFamily="34" charset="-122"/>
                <a:cs typeface="Inter" pitchFamily="34" charset="-120"/>
              </a:rPr>
              <a:t>CHAPTER 1</a:t>
            </a:r>
            <a:endParaRPr lang="en-US" sz="850" dirty="0"/>
          </a:p>
        </p:txBody>
      </p:sp>
      <p:sp>
        <p:nvSpPr>
          <p:cNvPr id="6" name="Text 3"/>
          <p:cNvSpPr/>
          <p:nvPr/>
        </p:nvSpPr>
        <p:spPr>
          <a:xfrm>
            <a:off x="661475" y="779363"/>
            <a:ext cx="6296860" cy="444103"/>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Inter Bold" pitchFamily="34" charset="0"/>
                <a:ea typeface="Inter Bold" pitchFamily="34" charset="-122"/>
                <a:cs typeface="Inter Bold" pitchFamily="34" charset="-120"/>
              </a:rPr>
              <a:t>Introduction</a:t>
            </a:r>
            <a:endParaRPr lang="en-US" sz="2750" dirty="0"/>
          </a:p>
        </p:txBody>
      </p:sp>
      <p:sp>
        <p:nvSpPr>
          <p:cNvPr id="7" name="Text 4"/>
          <p:cNvSpPr/>
          <p:nvPr/>
        </p:nvSpPr>
        <p:spPr>
          <a:xfrm>
            <a:off x="661475" y="1406624"/>
            <a:ext cx="6296860" cy="845741"/>
          </a:xfrm>
          <a:prstGeom prst="rect">
            <a:avLst/>
          </a:prstGeom>
          <a:noFill/>
          <a:ln/>
        </p:spPr>
        <p:txBody>
          <a:bodyPr wrap="square" lIns="0" tIns="0" rIns="0" bIns="0" rtlCol="0" anchor="t">
            <a:normAutofit/>
          </a:bodyPr>
          <a:lstStyle/>
          <a:p>
            <a:pPr marL="0" indent="0" algn="l">
              <a:lnSpc>
                <a:spcPct val="124000"/>
              </a:lnSpc>
              <a:buNone/>
            </a:pPr>
            <a:r>
              <a:rPr lang="en-US" sz="1100" b="1" dirty="0">
                <a:solidFill>
                  <a:srgbClr val="000000"/>
                </a:solidFill>
                <a:latin typeface="Inter Bold" pitchFamily="34" charset="0"/>
                <a:ea typeface="Inter Bold" pitchFamily="34" charset="-122"/>
                <a:cs typeface="Inter Bold" pitchFamily="34" charset="-120"/>
              </a:rPr>
              <a:t>AI Study Assistant</a:t>
            </a:r>
            <a:r>
              <a:rPr lang="en-US" sz="1100" dirty="0">
                <a:solidFill>
                  <a:srgbClr val="000000"/>
                </a:solidFill>
                <a:latin typeface="Inter" pitchFamily="34" charset="0"/>
                <a:ea typeface="Inter" pitchFamily="34" charset="-122"/>
                <a:cs typeface="Inter" pitchFamily="34" charset="-120"/>
              </a:rPr>
              <a:t> is a Generative AI–powered web application designed to answer students' study questions in simple, exam-oriented language. The application addresses a genuine need faced by college students, providing an intelligent, automated alternative to searching through books and websites.</a:t>
            </a:r>
            <a:endParaRPr lang="en-US" sz="1100" dirty="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1475" y="2389684"/>
            <a:ext cx="284255" cy="284262"/>
          </a:xfrm>
          <a:prstGeom prst="rect">
            <a:avLst/>
          </a:prstGeom>
        </p:spPr>
      </p:pic>
      <p:sp>
        <p:nvSpPr>
          <p:cNvPr id="9" name="Text 5"/>
          <p:cNvSpPr/>
          <p:nvPr/>
        </p:nvSpPr>
        <p:spPr>
          <a:xfrm>
            <a:off x="661475" y="2826544"/>
            <a:ext cx="6296860" cy="222052"/>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latin typeface="Inter Bold" pitchFamily="34" charset="0"/>
                <a:ea typeface="Inter Bold" pitchFamily="34" charset="-122"/>
                <a:cs typeface="Inter Bold" pitchFamily="34" charset="-120"/>
              </a:rPr>
              <a:t>Role of GenAI</a:t>
            </a:r>
            <a:endParaRPr lang="en-US" sz="1350" dirty="0"/>
          </a:p>
        </p:txBody>
      </p:sp>
      <p:sp>
        <p:nvSpPr>
          <p:cNvPr id="10" name="Text 6"/>
          <p:cNvSpPr/>
          <p:nvPr/>
        </p:nvSpPr>
        <p:spPr>
          <a:xfrm>
            <a:off x="661475" y="3121819"/>
            <a:ext cx="6296860" cy="422870"/>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000000"/>
                </a:solidFill>
                <a:latin typeface="Inter" pitchFamily="34" charset="0"/>
                <a:ea typeface="Inter" pitchFamily="34" charset="-122"/>
                <a:cs typeface="Inter" pitchFamily="34" charset="-120"/>
              </a:rPr>
              <a:t>Generative AI (Google Gemini) drives query answering and personalisation at the core of the application, producing clear text explanations in the answer style the student selects.</a:t>
            </a:r>
            <a:endParaRPr lang="en-US" sz="1100" dirty="0"/>
          </a:p>
        </p:txBody>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3788966"/>
            <a:ext cx="284255" cy="284262"/>
          </a:xfrm>
          <a:prstGeom prst="rect">
            <a:avLst/>
          </a:prstGeom>
        </p:spPr>
      </p:pic>
      <p:sp>
        <p:nvSpPr>
          <p:cNvPr id="12" name="Text 7"/>
          <p:cNvSpPr/>
          <p:nvPr/>
        </p:nvSpPr>
        <p:spPr>
          <a:xfrm>
            <a:off x="661475" y="4225826"/>
            <a:ext cx="6296860" cy="222052"/>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latin typeface="Inter Bold" pitchFamily="34" charset="0"/>
                <a:ea typeface="Inter Bold" pitchFamily="34" charset="-122"/>
                <a:cs typeface="Inter Bold" pitchFamily="34" charset="-120"/>
              </a:rPr>
              <a:t>Key Features</a:t>
            </a:r>
            <a:endParaRPr lang="en-US" sz="1350" dirty="0"/>
          </a:p>
        </p:txBody>
      </p:sp>
      <p:sp>
        <p:nvSpPr>
          <p:cNvPr id="13" name="Text 8"/>
          <p:cNvSpPr/>
          <p:nvPr/>
        </p:nvSpPr>
        <p:spPr>
          <a:xfrm>
            <a:off x="661475" y="4521101"/>
            <a:ext cx="6296860" cy="422870"/>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000000"/>
                </a:solidFill>
                <a:latin typeface="Inter" pitchFamily="34" charset="0"/>
                <a:ea typeface="Inter" pitchFamily="34" charset="-122"/>
                <a:cs typeface="Inter" pitchFamily="34" charset="-120"/>
              </a:rPr>
              <a:t>The application offers 4 primary user-facing features including AI question answering, three answer styles (Simple, Exam-oriented, Example-based), chat memory for follow-up questions, and a clear-chat option.</a:t>
            </a:r>
            <a:endParaRPr lang="en-US" sz="11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1475" y="5188248"/>
            <a:ext cx="284255" cy="284262"/>
          </a:xfrm>
          <a:prstGeom prst="rect">
            <a:avLst/>
          </a:prstGeom>
        </p:spPr>
      </p:pic>
      <p:sp>
        <p:nvSpPr>
          <p:cNvPr id="15" name="Text 9"/>
          <p:cNvSpPr/>
          <p:nvPr/>
        </p:nvSpPr>
        <p:spPr>
          <a:xfrm>
            <a:off x="661475" y="5625108"/>
            <a:ext cx="6296860" cy="222052"/>
          </a:xfrm>
          <a:prstGeom prst="rect">
            <a:avLst/>
          </a:prstGeom>
          <a:noFill/>
          <a:ln/>
        </p:spPr>
        <p:txBody>
          <a:bodyPr wrap="none" lIns="0" tIns="0" rIns="0" bIns="0" rtlCol="0" anchor="t"/>
          <a:lstStyle/>
          <a:p>
            <a:pPr marL="0" indent="0" algn="l">
              <a:lnSpc>
                <a:spcPct val="104000"/>
              </a:lnSpc>
              <a:buNone/>
            </a:pPr>
            <a:r>
              <a:rPr lang="en-US" sz="1350" b="1" dirty="0">
                <a:solidFill>
                  <a:srgbClr val="000000"/>
                </a:solidFill>
                <a:latin typeface="Inter Bold" pitchFamily="34" charset="0"/>
                <a:ea typeface="Inter Bold" pitchFamily="34" charset="-122"/>
                <a:cs typeface="Inter Bold" pitchFamily="34" charset="-120"/>
              </a:rPr>
              <a:t>Target Audience</a:t>
            </a:r>
            <a:endParaRPr lang="en-US" sz="1350" dirty="0"/>
          </a:p>
        </p:txBody>
      </p:sp>
      <p:sp>
        <p:nvSpPr>
          <p:cNvPr id="16" name="Text 10"/>
          <p:cNvSpPr/>
          <p:nvPr/>
        </p:nvSpPr>
        <p:spPr>
          <a:xfrm>
            <a:off x="661475" y="5920383"/>
            <a:ext cx="6296860" cy="422870"/>
          </a:xfrm>
          <a:prstGeom prst="rect">
            <a:avLst/>
          </a:prstGeom>
          <a:noFill/>
          <a:ln/>
        </p:spPr>
        <p:txBody>
          <a:bodyPr wrap="square" lIns="0" tIns="0" rIns="0" bIns="0" rtlCol="0" anchor="t">
            <a:normAutofit/>
          </a:bodyPr>
          <a:lstStyle/>
          <a:p>
            <a:pPr marL="0" indent="0" algn="l">
              <a:lnSpc>
                <a:spcPct val="124000"/>
              </a:lnSpc>
              <a:buNone/>
            </a:pPr>
            <a:r>
              <a:rPr lang="en-US" sz="1100" dirty="0">
                <a:solidFill>
                  <a:srgbClr val="000000"/>
                </a:solidFill>
                <a:latin typeface="Inter" pitchFamily="34" charset="0"/>
                <a:ea typeface="Inter" pitchFamily="34" charset="-122"/>
                <a:cs typeface="Inter" pitchFamily="34" charset="-120"/>
              </a:rPr>
              <a:t>Built for college students who require quick, clear explanations of AI, Data Science and Python topics, making their study faster, smarter, and more effective.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1373684"/>
            <a:ext cx="936899" cy="251420"/>
          </a:xfrm>
          <a:prstGeom prst="roundRect">
            <a:avLst>
              <a:gd name="adj" fmla="val 22103"/>
            </a:avLst>
          </a:prstGeom>
          <a:solidFill>
            <a:srgbClr val="D9DFF2"/>
          </a:solidFill>
          <a:ln/>
        </p:spPr>
      </p:sp>
      <p:sp>
        <p:nvSpPr>
          <p:cNvPr id="3" name="Text 1"/>
          <p:cNvSpPr/>
          <p:nvPr/>
        </p:nvSpPr>
        <p:spPr>
          <a:xfrm>
            <a:off x="760691" y="1423293"/>
            <a:ext cx="1348051"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Inter" pitchFamily="34" charset="0"/>
                <a:ea typeface="Inter" pitchFamily="34" charset="-122"/>
                <a:cs typeface="Inter" pitchFamily="34" charset="-120"/>
              </a:rPr>
              <a:t>CHAPTER 2</a:t>
            </a:r>
            <a:endParaRPr lang="en-US" sz="1000" dirty="0"/>
          </a:p>
        </p:txBody>
      </p:sp>
      <p:sp>
        <p:nvSpPr>
          <p:cNvPr id="4" name="Text 2"/>
          <p:cNvSpPr/>
          <p:nvPr/>
        </p:nvSpPr>
        <p:spPr>
          <a:xfrm>
            <a:off x="661475" y="1691184"/>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Problem Statement</a:t>
            </a:r>
            <a:endParaRPr lang="en-US" sz="3250" dirty="0"/>
          </a:p>
        </p:txBody>
      </p:sp>
      <p:sp>
        <p:nvSpPr>
          <p:cNvPr id="5" name="Shape 3"/>
          <p:cNvSpPr/>
          <p:nvPr/>
        </p:nvSpPr>
        <p:spPr>
          <a:xfrm>
            <a:off x="542415" y="2455962"/>
            <a:ext cx="5470785" cy="3028355"/>
          </a:xfrm>
          <a:prstGeom prst="roundRect">
            <a:avLst>
              <a:gd name="adj" fmla="val 3932"/>
            </a:avLst>
          </a:prstGeom>
          <a:solidFill>
            <a:srgbClr val="213163"/>
          </a:solidFill>
          <a:ln/>
        </p:spPr>
      </p:sp>
      <p:sp>
        <p:nvSpPr>
          <p:cNvPr id="6" name="Text 4"/>
          <p:cNvSpPr/>
          <p:nvPr/>
        </p:nvSpPr>
        <p:spPr>
          <a:xfrm>
            <a:off x="707710" y="2621260"/>
            <a:ext cx="5140196" cy="258465"/>
          </a:xfrm>
          <a:prstGeom prst="rect">
            <a:avLst/>
          </a:prstGeom>
          <a:noFill/>
          <a:ln/>
        </p:spPr>
        <p:txBody>
          <a:bodyPr wrap="none" lIns="0" tIns="0" rIns="0" bIns="0" rtlCol="0" anchor="t"/>
          <a:lstStyle/>
          <a:p>
            <a:pPr marL="0" indent="0" algn="l">
              <a:lnSpc>
                <a:spcPct val="104000"/>
              </a:lnSpc>
              <a:buNone/>
            </a:pPr>
            <a:r>
              <a:rPr lang="en-US" sz="1600" b="1" dirty="0">
                <a:solidFill>
                  <a:srgbClr val="FFFFFF"/>
                </a:solidFill>
                <a:latin typeface="Inter Bold" pitchFamily="34" charset="0"/>
                <a:ea typeface="Inter Bold" pitchFamily="34" charset="-122"/>
                <a:cs typeface="Inter Bold" pitchFamily="34" charset="-120"/>
              </a:rPr>
              <a:t>The Problem Today</a:t>
            </a:r>
            <a:endParaRPr lang="en-US" sz="1600" dirty="0"/>
          </a:p>
        </p:txBody>
      </p:sp>
      <p:sp>
        <p:nvSpPr>
          <p:cNvPr id="7" name="Text 5"/>
          <p:cNvSpPr/>
          <p:nvPr/>
        </p:nvSpPr>
        <p:spPr>
          <a:xfrm>
            <a:off x="707710" y="3045023"/>
            <a:ext cx="5140196"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FFFFFF"/>
                </a:solidFill>
                <a:latin typeface="Inter" pitchFamily="34" charset="0"/>
                <a:ea typeface="Inter" pitchFamily="34" charset="-122"/>
                <a:cs typeface="Inter" pitchFamily="34" charset="-120"/>
              </a:rPr>
              <a:t>Students currently face difficulty in finding clear, exam-ready explanations when studying technical topics. Existing tools rely on search engines, textbooks and fixed-answer FAQ bots, leading to wasted time and scattered, inconsistent answers. The gap between what students need and what current solutions offer is significant.</a:t>
            </a:r>
            <a:endParaRPr lang="en-US" sz="1300" dirty="0"/>
          </a:p>
        </p:txBody>
      </p:sp>
      <p:sp>
        <p:nvSpPr>
          <p:cNvPr id="8" name="Text 6"/>
          <p:cNvSpPr/>
          <p:nvPr/>
        </p:nvSpPr>
        <p:spPr>
          <a:xfrm>
            <a:off x="707710" y="4516934"/>
            <a:ext cx="5140196" cy="909538"/>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Slow, manual searching across many websites</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Fixed-answer bots that cannot adapt to the question</a:t>
            </a:r>
            <a:endParaRPr lang="en-US" sz="1300" dirty="0"/>
          </a:p>
          <a:p>
            <a:pPr marL="264160" indent="-264160" algn="l">
              <a:lnSpc>
                <a:spcPct val="133000"/>
              </a:lnSpc>
              <a:buSzPct val="100000"/>
              <a:buChar char="•"/>
            </a:pPr>
            <a:r>
              <a:rPr lang="en-US" sz="1300" dirty="0">
                <a:solidFill>
                  <a:srgbClr val="FFFFFF"/>
                </a:solidFill>
                <a:latin typeface="Inter" pitchFamily="34" charset="0"/>
                <a:ea typeface="Inter" pitchFamily="34" charset="-122"/>
                <a:cs typeface="Inter" pitchFamily="34" charset="-120"/>
              </a:rPr>
              <a:t>Inconsistent quality and hard-to-understand wording</a:t>
            </a:r>
            <a:endParaRPr lang="en-US" sz="1300" dirty="0"/>
          </a:p>
        </p:txBody>
      </p:sp>
      <p:sp>
        <p:nvSpPr>
          <p:cNvPr id="9" name="Text 7"/>
          <p:cNvSpPr/>
          <p:nvPr/>
        </p:nvSpPr>
        <p:spPr>
          <a:xfrm>
            <a:off x="6303904" y="2621260"/>
            <a:ext cx="5232666"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Why GenAI is the Answer</a:t>
            </a:r>
            <a:endParaRPr lang="en-US" sz="1600" dirty="0"/>
          </a:p>
        </p:txBody>
      </p:sp>
      <p:sp>
        <p:nvSpPr>
          <p:cNvPr id="10" name="Text 8"/>
          <p:cNvSpPr/>
          <p:nvPr/>
        </p:nvSpPr>
        <p:spPr>
          <a:xfrm>
            <a:off x="6303904" y="3045023"/>
            <a:ext cx="5232666"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A Generative AI–based solution is uniquely suited to this problem because it can understand natural language input, reason over context, and generate nuanced, high-quality output at scale — something no rule-based system can replicate.</a:t>
            </a:r>
            <a:endParaRPr lang="en-US" sz="1300" dirty="0"/>
          </a:p>
        </p:txBody>
      </p:sp>
      <p:sp>
        <p:nvSpPr>
          <p:cNvPr id="11" name="Text 9"/>
          <p:cNvSpPr/>
          <p:nvPr/>
        </p:nvSpPr>
        <p:spPr>
          <a:xfrm>
            <a:off x="6303904" y="4252317"/>
            <a:ext cx="5232666" cy="1174155"/>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b="1" dirty="0">
                <a:solidFill>
                  <a:srgbClr val="000000"/>
                </a:solidFill>
                <a:latin typeface="Inter Bold" pitchFamily="34" charset="0"/>
                <a:ea typeface="Inter Bold" pitchFamily="34" charset="-122"/>
                <a:cs typeface="Inter Bold" pitchFamily="34" charset="-120"/>
              </a:rPr>
              <a:t>Time saved:</a:t>
            </a:r>
            <a:r>
              <a:rPr lang="en-US" sz="1300" dirty="0">
                <a:solidFill>
                  <a:srgbClr val="000000"/>
                </a:solidFill>
                <a:latin typeface="Inter" pitchFamily="34" charset="0"/>
                <a:ea typeface="Inter" pitchFamily="34" charset="-122"/>
                <a:cs typeface="Inter" pitchFamily="34" charset="-120"/>
              </a:rPr>
              <a:t> Automation reduces effort from hours to seconds</a:t>
            </a:r>
            <a:endParaRPr lang="en-US" sz="1300" dirty="0"/>
          </a:p>
          <a:p>
            <a:pPr marL="264160" indent="-264160" algn="l">
              <a:lnSpc>
                <a:spcPct val="133000"/>
              </a:lnSpc>
              <a:buSzPct val="100000"/>
              <a:buChar char="•"/>
            </a:pPr>
            <a:r>
              <a:rPr lang="en-US" sz="1300" b="1" dirty="0">
                <a:solidFill>
                  <a:srgbClr val="000000"/>
                </a:solidFill>
                <a:latin typeface="Inter Bold" pitchFamily="34" charset="0"/>
                <a:ea typeface="Inter Bold" pitchFamily="34" charset="-122"/>
                <a:cs typeface="Inter Bold" pitchFamily="34" charset="-120"/>
              </a:rPr>
              <a:t>Accuracy gained:</a:t>
            </a:r>
            <a:r>
              <a:rPr lang="en-US" sz="1300" dirty="0">
                <a:solidFill>
                  <a:srgbClr val="000000"/>
                </a:solidFill>
                <a:latin typeface="Inter" pitchFamily="34" charset="0"/>
                <a:ea typeface="Inter" pitchFamily="34" charset="-122"/>
                <a:cs typeface="Inter" pitchFamily="34" charset="-120"/>
              </a:rPr>
              <a:t> AI-driven reasoning outperforms rigid rules</a:t>
            </a:r>
            <a:endParaRPr lang="en-US" sz="1300" dirty="0"/>
          </a:p>
          <a:p>
            <a:pPr marL="264160" indent="-264160" algn="l">
              <a:lnSpc>
                <a:spcPct val="133000"/>
              </a:lnSpc>
              <a:buSzPct val="100000"/>
              <a:buChar char="•"/>
            </a:pPr>
            <a:r>
              <a:rPr lang="en-US" sz="1300" b="1" dirty="0">
                <a:solidFill>
                  <a:srgbClr val="000000"/>
                </a:solidFill>
                <a:latin typeface="Inter Bold" pitchFamily="34" charset="0"/>
                <a:ea typeface="Inter Bold" pitchFamily="34" charset="-122"/>
                <a:cs typeface="Inter Bold" pitchFamily="34" charset="-120"/>
              </a:rPr>
              <a:t>Outcome:</a:t>
            </a:r>
            <a:r>
              <a:rPr lang="en-US" sz="1300" dirty="0">
                <a:solidFill>
                  <a:srgbClr val="000000"/>
                </a:solidFill>
                <a:latin typeface="Inter" pitchFamily="34" charset="0"/>
                <a:ea typeface="Inter" pitchFamily="34" charset="-122"/>
                <a:cs typeface="Inter" pitchFamily="34" charset="-120"/>
              </a:rPr>
              <a:t> Students receive clear, exam-ready answers in seconds, transforming their study routine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469999"/>
            <a:ext cx="878858" cy="235446"/>
          </a:xfrm>
          <a:prstGeom prst="roundRect">
            <a:avLst>
              <a:gd name="adj" fmla="val 22127"/>
            </a:avLst>
          </a:prstGeom>
          <a:solidFill>
            <a:srgbClr val="D9DFF2"/>
          </a:solidFill>
          <a:ln/>
        </p:spPr>
      </p:sp>
      <p:sp>
        <p:nvSpPr>
          <p:cNvPr id="3" name="Text 1"/>
          <p:cNvSpPr/>
          <p:nvPr/>
        </p:nvSpPr>
        <p:spPr>
          <a:xfrm>
            <a:off x="754441" y="516434"/>
            <a:ext cx="1302511" cy="142577"/>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Inter" pitchFamily="34" charset="0"/>
                <a:ea typeface="Inter" pitchFamily="34" charset="-122"/>
                <a:cs typeface="Inter" pitchFamily="34" charset="-120"/>
              </a:rPr>
              <a:t>CHAPTER 3</a:t>
            </a:r>
            <a:endParaRPr lang="en-US" sz="950" dirty="0"/>
          </a:p>
        </p:txBody>
      </p:sp>
      <p:sp>
        <p:nvSpPr>
          <p:cNvPr id="4" name="Text 2"/>
          <p:cNvSpPr/>
          <p:nvPr/>
        </p:nvSpPr>
        <p:spPr>
          <a:xfrm>
            <a:off x="661475" y="763588"/>
            <a:ext cx="10868745" cy="484485"/>
          </a:xfrm>
          <a:prstGeom prst="rect">
            <a:avLst/>
          </a:prstGeom>
          <a:noFill/>
          <a:ln/>
        </p:spPr>
        <p:txBody>
          <a:bodyPr wrap="none" lIns="0" tIns="0" rIns="0" bIns="0" rtlCol="0" anchor="t"/>
          <a:lstStyle/>
          <a:p>
            <a:pPr marL="0" indent="0" algn="l">
              <a:lnSpc>
                <a:spcPct val="104000"/>
              </a:lnSpc>
              <a:buNone/>
            </a:pPr>
            <a:r>
              <a:rPr lang="en-US" sz="3050" b="1" dirty="0">
                <a:solidFill>
                  <a:srgbClr val="000000"/>
                </a:solidFill>
                <a:latin typeface="Inter Bold" pitchFamily="34" charset="0"/>
                <a:ea typeface="Inter Bold" pitchFamily="34" charset="-122"/>
                <a:cs typeface="Inter Bold" pitchFamily="34" charset="-120"/>
              </a:rPr>
              <a:t>Objectives</a:t>
            </a:r>
            <a:endParaRPr lang="en-US" sz="3050" dirty="0"/>
          </a:p>
        </p:txBody>
      </p:sp>
      <p:sp>
        <p:nvSpPr>
          <p:cNvPr id="5" name="Text 3"/>
          <p:cNvSpPr/>
          <p:nvPr/>
        </p:nvSpPr>
        <p:spPr>
          <a:xfrm>
            <a:off x="661475" y="1466056"/>
            <a:ext cx="11478330" cy="240308"/>
          </a:xfrm>
          <a:prstGeom prst="rect">
            <a:avLst/>
          </a:prstGeom>
          <a:noFill/>
          <a:ln/>
        </p:spPr>
        <p:txBody>
          <a:bodyPr wrap="none" lIns="0" tIns="0" rIns="0" bIns="0" rtlCol="0" anchor="t"/>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The following objectives are measurable and directly map to deliverables present in the finished application.</a:t>
            </a:r>
            <a:endParaRPr lang="en-US" sz="1200" dirty="0"/>
          </a:p>
        </p:txBody>
      </p:sp>
      <p:sp>
        <p:nvSpPr>
          <p:cNvPr id="6" name="Shape 4"/>
          <p:cNvSpPr/>
          <p:nvPr/>
        </p:nvSpPr>
        <p:spPr>
          <a:xfrm>
            <a:off x="661475" y="1869877"/>
            <a:ext cx="348844" cy="348853"/>
          </a:xfrm>
          <a:prstGeom prst="roundRect">
            <a:avLst>
              <a:gd name="adj" fmla="val 18668"/>
            </a:avLst>
          </a:prstGeom>
          <a:solidFill>
            <a:srgbClr val="D9DFF2"/>
          </a:solidFill>
          <a:ln w="6350">
            <a:solidFill>
              <a:srgbClr val="BFC5D8"/>
            </a:solidFill>
            <a:prstDash val="solid"/>
          </a:ln>
        </p:spPr>
      </p:sp>
      <p:sp>
        <p:nvSpPr>
          <p:cNvPr id="7" name="Text 5"/>
          <p:cNvSpPr/>
          <p:nvPr/>
        </p:nvSpPr>
        <p:spPr>
          <a:xfrm>
            <a:off x="719616" y="1898948"/>
            <a:ext cx="232563" cy="290711"/>
          </a:xfrm>
          <a:prstGeom prst="rect">
            <a:avLst/>
          </a:prstGeom>
          <a:noFill/>
          <a:ln/>
        </p:spPr>
        <p:txBody>
          <a:bodyPr wrap="none" lIns="0" tIns="0" rIns="0" bIns="0" rtlCol="0" anchor="ctr"/>
          <a:lstStyle/>
          <a:p>
            <a:pPr marL="0" indent="0" algn="ctr">
              <a:lnSpc>
                <a:spcPct val="100000"/>
              </a:lnSpc>
              <a:buNone/>
            </a:pPr>
            <a:r>
              <a:rPr lang="en-US" sz="1800" b="1" dirty="0">
                <a:solidFill>
                  <a:srgbClr val="000000"/>
                </a:solidFill>
                <a:latin typeface="Inter Bold" pitchFamily="34" charset="0"/>
                <a:ea typeface="Inter Bold" pitchFamily="34" charset="-122"/>
                <a:cs typeface="Inter Bold" pitchFamily="34" charset="-120"/>
              </a:rPr>
              <a:t>1</a:t>
            </a:r>
            <a:endParaRPr lang="en-US" sz="1800" dirty="0"/>
          </a:p>
        </p:txBody>
      </p:sp>
      <p:sp>
        <p:nvSpPr>
          <p:cNvPr id="8" name="Text 6"/>
          <p:cNvSpPr/>
          <p:nvPr/>
        </p:nvSpPr>
        <p:spPr>
          <a:xfrm>
            <a:off x="1155671" y="1923157"/>
            <a:ext cx="10374549" cy="242193"/>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Build a Functional, Deployable Application</a:t>
            </a:r>
            <a:endParaRPr lang="en-US" sz="1500" dirty="0"/>
          </a:p>
        </p:txBody>
      </p:sp>
      <p:sp>
        <p:nvSpPr>
          <p:cNvPr id="9" name="Text 7"/>
          <p:cNvSpPr/>
          <p:nvPr/>
        </p:nvSpPr>
        <p:spPr>
          <a:xfrm>
            <a:off x="1155671" y="2252563"/>
            <a:ext cx="10374549" cy="240308"/>
          </a:xfrm>
          <a:prstGeom prst="rect">
            <a:avLst/>
          </a:prstGeom>
          <a:noFill/>
          <a:ln/>
        </p:spPr>
        <p:txBody>
          <a:bodyPr wrap="none" lIns="0" tIns="0" rIns="0" bIns="0" rtlCol="0" anchor="t"/>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Develop a complete, working GenAI-based website or application that is accessible to end users without technical setup.</a:t>
            </a:r>
            <a:endParaRPr lang="en-US" sz="1200" dirty="0"/>
          </a:p>
        </p:txBody>
      </p:sp>
      <p:sp>
        <p:nvSpPr>
          <p:cNvPr id="10" name="Shape 8"/>
          <p:cNvSpPr/>
          <p:nvPr/>
        </p:nvSpPr>
        <p:spPr>
          <a:xfrm>
            <a:off x="661475" y="2783582"/>
            <a:ext cx="348844" cy="348853"/>
          </a:xfrm>
          <a:prstGeom prst="roundRect">
            <a:avLst>
              <a:gd name="adj" fmla="val 18668"/>
            </a:avLst>
          </a:prstGeom>
          <a:solidFill>
            <a:srgbClr val="D9DFF2"/>
          </a:solidFill>
          <a:ln w="6350">
            <a:solidFill>
              <a:srgbClr val="BFC5D8"/>
            </a:solidFill>
            <a:prstDash val="solid"/>
          </a:ln>
        </p:spPr>
      </p:sp>
      <p:sp>
        <p:nvSpPr>
          <p:cNvPr id="11" name="Text 9"/>
          <p:cNvSpPr/>
          <p:nvPr/>
        </p:nvSpPr>
        <p:spPr>
          <a:xfrm>
            <a:off x="719616" y="2812653"/>
            <a:ext cx="232563" cy="290711"/>
          </a:xfrm>
          <a:prstGeom prst="rect">
            <a:avLst/>
          </a:prstGeom>
          <a:noFill/>
          <a:ln/>
        </p:spPr>
        <p:txBody>
          <a:bodyPr wrap="none" lIns="0" tIns="0" rIns="0" bIns="0" rtlCol="0" anchor="ctr"/>
          <a:lstStyle/>
          <a:p>
            <a:pPr marL="0" indent="0" algn="ctr">
              <a:lnSpc>
                <a:spcPct val="100000"/>
              </a:lnSpc>
              <a:buNone/>
            </a:pPr>
            <a:r>
              <a:rPr lang="en-US" sz="1800" b="1" dirty="0">
                <a:solidFill>
                  <a:srgbClr val="000000"/>
                </a:solidFill>
                <a:latin typeface="Inter Bold" pitchFamily="34" charset="0"/>
                <a:ea typeface="Inter Bold" pitchFamily="34" charset="-122"/>
                <a:cs typeface="Inter Bold" pitchFamily="34" charset="-120"/>
              </a:rPr>
              <a:t>2</a:t>
            </a:r>
            <a:endParaRPr lang="en-US" sz="1800" dirty="0"/>
          </a:p>
        </p:txBody>
      </p:sp>
      <p:sp>
        <p:nvSpPr>
          <p:cNvPr id="12" name="Text 10"/>
          <p:cNvSpPr/>
          <p:nvPr/>
        </p:nvSpPr>
        <p:spPr>
          <a:xfrm>
            <a:off x="1155671" y="2836863"/>
            <a:ext cx="10374549" cy="242193"/>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Select an Appropriate GenAI Model or API</a:t>
            </a:r>
            <a:endParaRPr lang="en-US" sz="1500" dirty="0"/>
          </a:p>
        </p:txBody>
      </p:sp>
      <p:sp>
        <p:nvSpPr>
          <p:cNvPr id="13" name="Text 11"/>
          <p:cNvSpPr/>
          <p:nvPr/>
        </p:nvSpPr>
        <p:spPr>
          <a:xfrm>
            <a:off x="1155671" y="3166269"/>
            <a:ext cx="10374549" cy="480616"/>
          </a:xfrm>
          <a:prstGeom prst="rect">
            <a:avLst/>
          </a:prstGeom>
          <a:noFill/>
          <a:ln/>
        </p:spPr>
        <p:txBody>
          <a:bodyPr wrap="square" lIns="0" tIns="0" rIns="0" bIns="0" rtlCol="0" anchor="t">
            <a:normAutofit/>
          </a:bodyPr>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Evaluate and integrate a Generative AI model or API — Google Gemini, accessed through the google-genai SDK — that is well-matched to the study-assistant problem domain.</a:t>
            </a:r>
            <a:endParaRPr lang="en-US" sz="1200" dirty="0"/>
          </a:p>
        </p:txBody>
      </p:sp>
      <p:sp>
        <p:nvSpPr>
          <p:cNvPr id="14" name="Shape 12"/>
          <p:cNvSpPr/>
          <p:nvPr/>
        </p:nvSpPr>
        <p:spPr>
          <a:xfrm>
            <a:off x="661475" y="3937595"/>
            <a:ext cx="348844" cy="348853"/>
          </a:xfrm>
          <a:prstGeom prst="roundRect">
            <a:avLst>
              <a:gd name="adj" fmla="val 18668"/>
            </a:avLst>
          </a:prstGeom>
          <a:solidFill>
            <a:srgbClr val="D9DFF2"/>
          </a:solidFill>
          <a:ln w="6350">
            <a:solidFill>
              <a:srgbClr val="BFC5D8"/>
            </a:solidFill>
            <a:prstDash val="solid"/>
          </a:ln>
        </p:spPr>
      </p:sp>
      <p:sp>
        <p:nvSpPr>
          <p:cNvPr id="15" name="Text 13"/>
          <p:cNvSpPr/>
          <p:nvPr/>
        </p:nvSpPr>
        <p:spPr>
          <a:xfrm>
            <a:off x="719616" y="3966666"/>
            <a:ext cx="232563" cy="290711"/>
          </a:xfrm>
          <a:prstGeom prst="rect">
            <a:avLst/>
          </a:prstGeom>
          <a:noFill/>
          <a:ln/>
        </p:spPr>
        <p:txBody>
          <a:bodyPr wrap="none" lIns="0" tIns="0" rIns="0" bIns="0" rtlCol="0" anchor="ctr"/>
          <a:lstStyle/>
          <a:p>
            <a:pPr marL="0" indent="0" algn="ctr">
              <a:lnSpc>
                <a:spcPct val="100000"/>
              </a:lnSpc>
              <a:buNone/>
            </a:pPr>
            <a:r>
              <a:rPr lang="en-US" sz="1800" b="1" dirty="0">
                <a:solidFill>
                  <a:srgbClr val="000000"/>
                </a:solidFill>
                <a:latin typeface="Inter Bold" pitchFamily="34" charset="0"/>
                <a:ea typeface="Inter Bold" pitchFamily="34" charset="-122"/>
                <a:cs typeface="Inter Bold" pitchFamily="34" charset="-120"/>
              </a:rPr>
              <a:t>3</a:t>
            </a:r>
            <a:endParaRPr lang="en-US" sz="1800" dirty="0"/>
          </a:p>
        </p:txBody>
      </p:sp>
      <p:sp>
        <p:nvSpPr>
          <p:cNvPr id="16" name="Text 14"/>
          <p:cNvSpPr/>
          <p:nvPr/>
        </p:nvSpPr>
        <p:spPr>
          <a:xfrm>
            <a:off x="1155671" y="3990876"/>
            <a:ext cx="10374549" cy="242193"/>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Design Effective Prompts and Inputs</a:t>
            </a:r>
            <a:endParaRPr lang="en-US" sz="1500" dirty="0"/>
          </a:p>
        </p:txBody>
      </p:sp>
      <p:sp>
        <p:nvSpPr>
          <p:cNvPr id="17" name="Text 15"/>
          <p:cNvSpPr/>
          <p:nvPr/>
        </p:nvSpPr>
        <p:spPr>
          <a:xfrm>
            <a:off x="1155671" y="4320282"/>
            <a:ext cx="10374549" cy="240308"/>
          </a:xfrm>
          <a:prstGeom prst="rect">
            <a:avLst/>
          </a:prstGeom>
          <a:noFill/>
          <a:ln/>
        </p:spPr>
        <p:txBody>
          <a:bodyPr wrap="none" lIns="0" tIns="0" rIns="0" bIns="0" rtlCol="0" anchor="t"/>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Engineer structured prompts or input schemas that consistently yield accurate, relevant, and useful AI-generated responses.</a:t>
            </a:r>
            <a:endParaRPr lang="en-US" sz="1200" dirty="0"/>
          </a:p>
        </p:txBody>
      </p:sp>
      <p:sp>
        <p:nvSpPr>
          <p:cNvPr id="18" name="Shape 16"/>
          <p:cNvSpPr/>
          <p:nvPr/>
        </p:nvSpPr>
        <p:spPr>
          <a:xfrm>
            <a:off x="661475" y="4851301"/>
            <a:ext cx="348844" cy="348853"/>
          </a:xfrm>
          <a:prstGeom prst="roundRect">
            <a:avLst>
              <a:gd name="adj" fmla="val 18668"/>
            </a:avLst>
          </a:prstGeom>
          <a:solidFill>
            <a:srgbClr val="D9DFF2"/>
          </a:solidFill>
          <a:ln w="6350">
            <a:solidFill>
              <a:srgbClr val="BFC5D8"/>
            </a:solidFill>
            <a:prstDash val="solid"/>
          </a:ln>
        </p:spPr>
      </p:sp>
      <p:sp>
        <p:nvSpPr>
          <p:cNvPr id="19" name="Text 17"/>
          <p:cNvSpPr/>
          <p:nvPr/>
        </p:nvSpPr>
        <p:spPr>
          <a:xfrm>
            <a:off x="719616" y="4880372"/>
            <a:ext cx="232563" cy="290711"/>
          </a:xfrm>
          <a:prstGeom prst="rect">
            <a:avLst/>
          </a:prstGeom>
          <a:noFill/>
          <a:ln/>
        </p:spPr>
        <p:txBody>
          <a:bodyPr wrap="none" lIns="0" tIns="0" rIns="0" bIns="0" rtlCol="0" anchor="ctr"/>
          <a:lstStyle/>
          <a:p>
            <a:pPr marL="0" indent="0" algn="ctr">
              <a:lnSpc>
                <a:spcPct val="100000"/>
              </a:lnSpc>
              <a:buNone/>
            </a:pPr>
            <a:r>
              <a:rPr lang="en-US" sz="1800" b="1" dirty="0">
                <a:solidFill>
                  <a:srgbClr val="000000"/>
                </a:solidFill>
                <a:latin typeface="Inter Bold" pitchFamily="34" charset="0"/>
                <a:ea typeface="Inter Bold" pitchFamily="34" charset="-122"/>
                <a:cs typeface="Inter Bold" pitchFamily="34" charset="-120"/>
              </a:rPr>
              <a:t>4</a:t>
            </a:r>
            <a:endParaRPr lang="en-US" sz="1800" dirty="0"/>
          </a:p>
        </p:txBody>
      </p:sp>
      <p:sp>
        <p:nvSpPr>
          <p:cNvPr id="20" name="Text 18"/>
          <p:cNvSpPr/>
          <p:nvPr/>
        </p:nvSpPr>
        <p:spPr>
          <a:xfrm>
            <a:off x="1155671" y="4904581"/>
            <a:ext cx="10374549" cy="242193"/>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Deliver an Intuitive User Interface</a:t>
            </a:r>
            <a:endParaRPr lang="en-US" sz="1500" dirty="0"/>
          </a:p>
        </p:txBody>
      </p:sp>
      <p:sp>
        <p:nvSpPr>
          <p:cNvPr id="21" name="Text 19"/>
          <p:cNvSpPr/>
          <p:nvPr/>
        </p:nvSpPr>
        <p:spPr>
          <a:xfrm>
            <a:off x="1155671" y="5233988"/>
            <a:ext cx="10374549" cy="240308"/>
          </a:xfrm>
          <a:prstGeom prst="rect">
            <a:avLst/>
          </a:prstGeom>
          <a:noFill/>
          <a:ln/>
        </p:spPr>
        <p:txBody>
          <a:bodyPr wrap="none" lIns="0" tIns="0" rIns="0" bIns="0" rtlCol="0" anchor="t"/>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Design and implement a clean, accessible, and user-friendly frontend that requires no technical expertise to operate.</a:t>
            </a:r>
            <a:endParaRPr lang="en-US" sz="1200" dirty="0"/>
          </a:p>
        </p:txBody>
      </p:sp>
      <p:sp>
        <p:nvSpPr>
          <p:cNvPr id="22" name="Shape 20"/>
          <p:cNvSpPr/>
          <p:nvPr/>
        </p:nvSpPr>
        <p:spPr>
          <a:xfrm>
            <a:off x="661475" y="5765006"/>
            <a:ext cx="348844" cy="348853"/>
          </a:xfrm>
          <a:prstGeom prst="roundRect">
            <a:avLst>
              <a:gd name="adj" fmla="val 18668"/>
            </a:avLst>
          </a:prstGeom>
          <a:solidFill>
            <a:srgbClr val="D9DFF2"/>
          </a:solidFill>
          <a:ln w="6350">
            <a:solidFill>
              <a:srgbClr val="BFC5D8"/>
            </a:solidFill>
            <a:prstDash val="solid"/>
          </a:ln>
        </p:spPr>
      </p:sp>
      <p:sp>
        <p:nvSpPr>
          <p:cNvPr id="23" name="Text 21"/>
          <p:cNvSpPr/>
          <p:nvPr/>
        </p:nvSpPr>
        <p:spPr>
          <a:xfrm>
            <a:off x="719616" y="5794077"/>
            <a:ext cx="232563" cy="290711"/>
          </a:xfrm>
          <a:prstGeom prst="rect">
            <a:avLst/>
          </a:prstGeom>
          <a:noFill/>
          <a:ln/>
        </p:spPr>
        <p:txBody>
          <a:bodyPr wrap="none" lIns="0" tIns="0" rIns="0" bIns="0" rtlCol="0" anchor="ctr"/>
          <a:lstStyle/>
          <a:p>
            <a:pPr marL="0" indent="0" algn="ctr">
              <a:lnSpc>
                <a:spcPct val="100000"/>
              </a:lnSpc>
              <a:buNone/>
            </a:pPr>
            <a:r>
              <a:rPr lang="en-US" sz="1800" b="1" dirty="0">
                <a:solidFill>
                  <a:srgbClr val="000000"/>
                </a:solidFill>
                <a:latin typeface="Inter Bold" pitchFamily="34" charset="0"/>
                <a:ea typeface="Inter Bold" pitchFamily="34" charset="-122"/>
                <a:cs typeface="Inter Bold" pitchFamily="34" charset="-120"/>
              </a:rPr>
              <a:t>5</a:t>
            </a:r>
            <a:endParaRPr lang="en-US" sz="1800" dirty="0"/>
          </a:p>
        </p:txBody>
      </p:sp>
      <p:sp>
        <p:nvSpPr>
          <p:cNvPr id="24" name="Text 22"/>
          <p:cNvSpPr/>
          <p:nvPr/>
        </p:nvSpPr>
        <p:spPr>
          <a:xfrm>
            <a:off x="1155671" y="5818287"/>
            <a:ext cx="10374549" cy="242193"/>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Evaluate Output Quality</a:t>
            </a:r>
            <a:endParaRPr lang="en-US" sz="1500" dirty="0"/>
          </a:p>
        </p:txBody>
      </p:sp>
      <p:sp>
        <p:nvSpPr>
          <p:cNvPr id="25" name="Text 23"/>
          <p:cNvSpPr/>
          <p:nvPr/>
        </p:nvSpPr>
        <p:spPr>
          <a:xfrm>
            <a:off x="1155671" y="6147693"/>
            <a:ext cx="10374549" cy="240308"/>
          </a:xfrm>
          <a:prstGeom prst="rect">
            <a:avLst/>
          </a:prstGeom>
          <a:noFill/>
          <a:ln/>
        </p:spPr>
        <p:txBody>
          <a:bodyPr wrap="none" lIns="0" tIns="0" rIns="0" bIns="0" rtlCol="0" anchor="t"/>
          <a:lstStyle/>
          <a:p>
            <a:pPr marL="0" indent="0" algn="l">
              <a:lnSpc>
                <a:spcPct val="129000"/>
              </a:lnSpc>
              <a:buNone/>
            </a:pPr>
            <a:r>
              <a:rPr lang="en-US" sz="1200" dirty="0">
                <a:solidFill>
                  <a:srgbClr val="000000"/>
                </a:solidFill>
                <a:latin typeface="Inter" pitchFamily="34" charset="0"/>
                <a:ea typeface="Inter" pitchFamily="34" charset="-122"/>
                <a:cs typeface="Inter" pitchFamily="34" charset="-120"/>
              </a:rPr>
              <a:t>Assess the accuracy, relevance, and overall quality of the AI-generated outputs through structured testing and user feedback.</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556320"/>
            <a:ext cx="941662" cy="251420"/>
          </a:xfrm>
          <a:prstGeom prst="roundRect">
            <a:avLst>
              <a:gd name="adj" fmla="val 22103"/>
            </a:avLst>
          </a:prstGeom>
          <a:solidFill>
            <a:srgbClr val="D9DFF2"/>
          </a:solidFill>
          <a:ln/>
        </p:spPr>
      </p:sp>
      <p:sp>
        <p:nvSpPr>
          <p:cNvPr id="3" name="Text 1"/>
          <p:cNvSpPr/>
          <p:nvPr/>
        </p:nvSpPr>
        <p:spPr>
          <a:xfrm>
            <a:off x="760691" y="605929"/>
            <a:ext cx="1352814"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Inter" pitchFamily="34" charset="0"/>
                <a:ea typeface="Inter" pitchFamily="34" charset="-122"/>
                <a:cs typeface="Inter" pitchFamily="34" charset="-120"/>
              </a:rPr>
              <a:t>CHAPTER 4</a:t>
            </a:r>
            <a:endParaRPr lang="en-US" sz="1000" dirty="0"/>
          </a:p>
        </p:txBody>
      </p:sp>
      <p:sp>
        <p:nvSpPr>
          <p:cNvPr id="4" name="Text 2"/>
          <p:cNvSpPr/>
          <p:nvPr/>
        </p:nvSpPr>
        <p:spPr>
          <a:xfrm>
            <a:off x="661475" y="873820"/>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Project Scope</a:t>
            </a:r>
            <a:endParaRPr lang="en-US" sz="3250" dirty="0"/>
          </a:p>
        </p:txBody>
      </p:sp>
      <p:sp>
        <p:nvSpPr>
          <p:cNvPr id="5" name="Text 3"/>
          <p:cNvSpPr/>
          <p:nvPr/>
        </p:nvSpPr>
        <p:spPr>
          <a:xfrm>
            <a:off x="661475" y="1803896"/>
            <a:ext cx="579621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What Is Included</a:t>
            </a:r>
            <a:endParaRPr lang="en-US" sz="16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248396"/>
            <a:ext cx="2815460" cy="1850926"/>
          </a:xfrm>
          <a:prstGeom prst="rect">
            <a:avLst/>
          </a:prstGeom>
        </p:spPr>
      </p:pic>
      <p:sp>
        <p:nvSpPr>
          <p:cNvPr id="7" name="Text 4"/>
          <p:cNvSpPr/>
          <p:nvPr/>
        </p:nvSpPr>
        <p:spPr>
          <a:xfrm>
            <a:off x="922017" y="2432745"/>
            <a:ext cx="237057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Use Cases Covered</a:t>
            </a:r>
            <a:endParaRPr lang="en-US" sz="1600" dirty="0"/>
          </a:p>
        </p:txBody>
      </p:sp>
      <p:sp>
        <p:nvSpPr>
          <p:cNvPr id="8" name="Text 5"/>
          <p:cNvSpPr/>
          <p:nvPr/>
        </p:nvSpPr>
        <p:spPr>
          <a:xfrm>
            <a:off x="922017" y="2856508"/>
            <a:ext cx="237057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AI-based answering of study questions on AI, Data Science, Python and Computer Science — clearly defined and implemented in this version.</a:t>
            </a:r>
            <a:endParaRPr lang="en-US" sz="13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229" y="2248396"/>
            <a:ext cx="2815460" cy="1850926"/>
          </a:xfrm>
          <a:prstGeom prst="rect">
            <a:avLst/>
          </a:prstGeom>
        </p:spPr>
      </p:pic>
      <p:sp>
        <p:nvSpPr>
          <p:cNvPr id="10" name="Text 6"/>
          <p:cNvSpPr/>
          <p:nvPr/>
        </p:nvSpPr>
        <p:spPr>
          <a:xfrm>
            <a:off x="3902771" y="2432745"/>
            <a:ext cx="237057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Target Users</a:t>
            </a:r>
            <a:endParaRPr lang="en-US" sz="1600" dirty="0"/>
          </a:p>
        </p:txBody>
      </p:sp>
      <p:sp>
        <p:nvSpPr>
          <p:cNvPr id="11" name="Text 7"/>
          <p:cNvSpPr/>
          <p:nvPr/>
        </p:nvSpPr>
        <p:spPr>
          <a:xfrm>
            <a:off x="3902771" y="2856508"/>
            <a:ext cx="237057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College students with requirements including quick explanations and exam-ready answers.</a:t>
            </a:r>
            <a:endParaRPr lang="en-US" sz="13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264620"/>
            <a:ext cx="2815460" cy="1850926"/>
          </a:xfrm>
          <a:prstGeom prst="rect">
            <a:avLst/>
          </a:prstGeom>
        </p:spPr>
      </p:pic>
      <p:sp>
        <p:nvSpPr>
          <p:cNvPr id="13" name="Text 8"/>
          <p:cNvSpPr/>
          <p:nvPr/>
        </p:nvSpPr>
        <p:spPr>
          <a:xfrm>
            <a:off x="922017" y="4448969"/>
            <a:ext cx="237057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GenAI Features</a:t>
            </a:r>
            <a:endParaRPr lang="en-US" sz="1600" dirty="0"/>
          </a:p>
        </p:txBody>
      </p:sp>
      <p:sp>
        <p:nvSpPr>
          <p:cNvPr id="14" name="Text 9"/>
          <p:cNvSpPr/>
          <p:nvPr/>
        </p:nvSpPr>
        <p:spPr>
          <a:xfrm>
            <a:off x="922017" y="4872732"/>
            <a:ext cx="237057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Features powered by AI in this release: question answering, answer-style control, and context-aware follow-up replies.</a:t>
            </a:r>
            <a:endParaRPr lang="en-US" sz="13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42229" y="4264620"/>
            <a:ext cx="2815460" cy="1850926"/>
          </a:xfrm>
          <a:prstGeom prst="rect">
            <a:avLst/>
          </a:prstGeom>
        </p:spPr>
      </p:pic>
      <p:sp>
        <p:nvSpPr>
          <p:cNvPr id="16" name="Text 10"/>
          <p:cNvSpPr/>
          <p:nvPr/>
        </p:nvSpPr>
        <p:spPr>
          <a:xfrm>
            <a:off x="3902771" y="4448969"/>
            <a:ext cx="237057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Input / Output Types</a:t>
            </a:r>
            <a:endParaRPr lang="en-US" sz="1600" dirty="0"/>
          </a:p>
        </p:txBody>
      </p:sp>
      <p:sp>
        <p:nvSpPr>
          <p:cNvPr id="17" name="Text 11"/>
          <p:cNvSpPr/>
          <p:nvPr/>
        </p:nvSpPr>
        <p:spPr>
          <a:xfrm>
            <a:off x="3902771" y="4872732"/>
            <a:ext cx="2370574"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Accepts a text question typed in the chat box and produces a generated text answer as output.</a:t>
            </a:r>
            <a:endParaRPr lang="en-US" sz="1300" dirty="0"/>
          </a:p>
        </p:txBody>
      </p:sp>
      <p:sp>
        <p:nvSpPr>
          <p:cNvPr id="18" name="Text 12"/>
          <p:cNvSpPr/>
          <p:nvPr/>
        </p:nvSpPr>
        <p:spPr>
          <a:xfrm>
            <a:off x="6867452" y="1803896"/>
            <a:ext cx="4669018"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Current Limitations &amp; Boundaries</a:t>
            </a:r>
            <a:endParaRPr lang="en-US" sz="1600" dirty="0"/>
          </a:p>
        </p:txBody>
      </p:sp>
      <p:sp>
        <p:nvSpPr>
          <p:cNvPr id="19" name="Shape 13"/>
          <p:cNvSpPr/>
          <p:nvPr/>
        </p:nvSpPr>
        <p:spPr>
          <a:xfrm>
            <a:off x="6867452" y="2248396"/>
            <a:ext cx="4669018" cy="1174055"/>
          </a:xfrm>
          <a:prstGeom prst="roundRect">
            <a:avLst>
              <a:gd name="adj" fmla="val 5917"/>
            </a:avLst>
          </a:prstGeom>
          <a:solidFill>
            <a:srgbClr val="FCF2B5"/>
          </a:solidFill>
          <a:ln/>
        </p:spPr>
      </p:sp>
      <p:pic>
        <p:nvPicPr>
          <p:cNvPr id="20" name="Image 4" descr="preencoded.png"/>
          <p:cNvPicPr>
            <a:picLocks noChangeAspect="1"/>
          </p:cNvPicPr>
          <p:nvPr/>
        </p:nvPicPr>
        <p:blipFill>
          <a:blip r:embed="rId4"/>
          <a:stretch>
            <a:fillRect/>
          </a:stretch>
        </p:blipFill>
        <p:spPr>
          <a:xfrm>
            <a:off x="7032747" y="2500809"/>
            <a:ext cx="206667" cy="165298"/>
          </a:xfrm>
          <a:prstGeom prst="rect">
            <a:avLst/>
          </a:prstGeom>
        </p:spPr>
      </p:pic>
      <p:sp>
        <p:nvSpPr>
          <p:cNvPr id="21" name="Text 14"/>
          <p:cNvSpPr/>
          <p:nvPr/>
        </p:nvSpPr>
        <p:spPr>
          <a:xfrm>
            <a:off x="7404709" y="2438499"/>
            <a:ext cx="3966468"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The following are known boundaries of this version and are addressed in the Future Scope section.</a:t>
            </a:r>
            <a:endParaRPr lang="en-US" sz="1300" dirty="0"/>
          </a:p>
        </p:txBody>
      </p:sp>
      <p:sp>
        <p:nvSpPr>
          <p:cNvPr id="22" name="Text 15"/>
          <p:cNvSpPr/>
          <p:nvPr/>
        </p:nvSpPr>
        <p:spPr>
          <a:xfrm>
            <a:off x="6867452" y="3608487"/>
            <a:ext cx="4669018" cy="2083693"/>
          </a:xfrm>
          <a:prstGeom prst="rect">
            <a:avLst/>
          </a:prstGeom>
          <a:noFill/>
          <a:ln/>
        </p:spPr>
        <p:txBody>
          <a:bodyPr wrap="square" lIns="0" tIns="0" rIns="0" bIns="0" rtlCol="0" anchor="t">
            <a:normAutofit/>
          </a:bodyPr>
          <a:lstStyle/>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Supports a single language (English) only</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Dependent on external API availability and rate limits</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No dedicated mobile application in this release</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Domain coverage is limited to study topics in AI, Data Science and Python</a:t>
            </a:r>
            <a:endParaRPr lang="en-US" sz="1300" dirty="0"/>
          </a:p>
          <a:p>
            <a:pPr marL="264160" indent="-264160" algn="l">
              <a:lnSpc>
                <a:spcPct val="133000"/>
              </a:lnSpc>
              <a:buSzPct val="100000"/>
              <a:buChar char="•"/>
            </a:pPr>
            <a:r>
              <a:rPr lang="en-US" sz="1300" dirty="0">
                <a:solidFill>
                  <a:srgbClr val="000000"/>
                </a:solidFill>
                <a:latin typeface="Inter" pitchFamily="34" charset="0"/>
                <a:ea typeface="Inter" pitchFamily="34" charset="-122"/>
                <a:cs typeface="Inter" pitchFamily="34" charset="-120"/>
              </a:rPr>
              <a:t>Edge cases involving very long or unclear questions are not yet handled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510580"/>
            <a:ext cx="569402" cy="152995"/>
          </a:xfrm>
          <a:prstGeom prst="roundRect">
            <a:avLst>
              <a:gd name="adj" fmla="val 22134"/>
            </a:avLst>
          </a:prstGeom>
          <a:solidFill>
            <a:srgbClr val="D9DFF2"/>
          </a:solidFill>
          <a:ln/>
        </p:spPr>
      </p:sp>
      <p:sp>
        <p:nvSpPr>
          <p:cNvPr id="3" name="Text 1"/>
          <p:cNvSpPr/>
          <p:nvPr/>
        </p:nvSpPr>
        <p:spPr>
          <a:xfrm>
            <a:off x="721898" y="540742"/>
            <a:ext cx="1058141" cy="92670"/>
          </a:xfrm>
          <a:prstGeom prst="rect">
            <a:avLst/>
          </a:prstGeom>
          <a:noFill/>
          <a:ln/>
        </p:spPr>
        <p:txBody>
          <a:bodyPr wrap="none" lIns="0" tIns="0" rIns="0" bIns="0" rtlCol="0" anchor="t"/>
          <a:lstStyle/>
          <a:p>
            <a:pPr marL="0" indent="0" algn="l">
              <a:lnSpc>
                <a:spcPct val="96000"/>
              </a:lnSpc>
              <a:buNone/>
            </a:pPr>
            <a:r>
              <a:rPr lang="en-US" sz="600" dirty="0">
                <a:solidFill>
                  <a:srgbClr val="000000"/>
                </a:solidFill>
                <a:latin typeface="Inter" pitchFamily="34" charset="0"/>
                <a:ea typeface="Inter" pitchFamily="34" charset="-122"/>
                <a:cs typeface="Inter" pitchFamily="34" charset="-120"/>
              </a:rPr>
              <a:t>CHAPTER 5</a:t>
            </a:r>
            <a:endParaRPr lang="en-US" sz="600" dirty="0"/>
          </a:p>
        </p:txBody>
      </p:sp>
      <p:sp>
        <p:nvSpPr>
          <p:cNvPr id="4" name="Text 2"/>
          <p:cNvSpPr/>
          <p:nvPr/>
        </p:nvSpPr>
        <p:spPr>
          <a:xfrm>
            <a:off x="661475" y="688082"/>
            <a:ext cx="10868745" cy="315020"/>
          </a:xfrm>
          <a:prstGeom prst="rect">
            <a:avLst/>
          </a:prstGeom>
          <a:noFill/>
          <a:ln/>
        </p:spPr>
        <p:txBody>
          <a:bodyPr wrap="none" lIns="0" tIns="0" rIns="0" bIns="0" rtlCol="0" anchor="t"/>
          <a:lstStyle/>
          <a:p>
            <a:pPr marL="0" indent="0" algn="l">
              <a:lnSpc>
                <a:spcPct val="104000"/>
              </a:lnSpc>
              <a:buNone/>
            </a:pPr>
            <a:r>
              <a:rPr lang="en-US" sz="1950" b="1" dirty="0">
                <a:solidFill>
                  <a:srgbClr val="000000"/>
                </a:solidFill>
                <a:latin typeface="Inter Bold" pitchFamily="34" charset="0"/>
                <a:ea typeface="Inter Bold" pitchFamily="34" charset="-122"/>
                <a:cs typeface="Inter Bold" pitchFamily="34" charset="-120"/>
              </a:rPr>
              <a:t>Proposed System / Methodology</a:t>
            </a:r>
            <a:endParaRPr lang="en-US" sz="1950" dirty="0"/>
          </a:p>
        </p:txBody>
      </p:sp>
      <p:sp>
        <p:nvSpPr>
          <p:cNvPr id="5" name="Text 3"/>
          <p:cNvSpPr/>
          <p:nvPr/>
        </p:nvSpPr>
        <p:spPr>
          <a:xfrm>
            <a:off x="661475" y="1095177"/>
            <a:ext cx="11478330" cy="129778"/>
          </a:xfrm>
          <a:prstGeom prst="rect">
            <a:avLst/>
          </a:prstGeom>
          <a:noFill/>
          <a:ln/>
        </p:spPr>
        <p:txBody>
          <a:bodyPr wrap="none" lIns="0" tIns="0" rIns="0" bIns="0" rtlCol="0" anchor="t"/>
          <a:lstStyle/>
          <a:p>
            <a:pPr marL="0" indent="0" algn="l">
              <a:lnSpc>
                <a:spcPct val="107000"/>
              </a:lnSpc>
              <a:buNone/>
            </a:pPr>
            <a:r>
              <a:rPr lang="en-US" sz="750" dirty="0">
                <a:solidFill>
                  <a:srgbClr val="000000"/>
                </a:solidFill>
                <a:latin typeface="Inter" pitchFamily="34" charset="0"/>
                <a:ea typeface="Inter" pitchFamily="34" charset="-122"/>
                <a:cs typeface="Inter" pitchFamily="34" charset="-120"/>
              </a:rPr>
              <a:t>The application follows a structured end-to-end pipeline — from user input collection through AI processing to final output delivery.</a:t>
            </a:r>
            <a:endParaRPr lang="en-US" sz="750" dirty="0"/>
          </a:p>
        </p:txBody>
      </p:sp>
      <p:pic>
        <p:nvPicPr>
          <p:cNvPr id="6" name="Image 0" descr="preencoded.png"/>
          <p:cNvPicPr>
            <a:picLocks noChangeAspect="1"/>
          </p:cNvPicPr>
          <p:nvPr/>
        </p:nvPicPr>
        <p:blipFill>
          <a:blip r:embed="rId3"/>
          <a:stretch>
            <a:fillRect/>
          </a:stretch>
        </p:blipFill>
        <p:spPr>
          <a:xfrm>
            <a:off x="835500" y="1294011"/>
            <a:ext cx="10520595" cy="3947914"/>
          </a:xfrm>
          <a:prstGeom prst="rect">
            <a:avLst/>
          </a:prstGeom>
        </p:spPr>
      </p:pic>
      <p:sp>
        <p:nvSpPr>
          <p:cNvPr id="7" name="Text 4"/>
          <p:cNvSpPr/>
          <p:nvPr/>
        </p:nvSpPr>
        <p:spPr>
          <a:xfrm>
            <a:off x="9336045" y="4130688"/>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b="1" dirty="0">
                <a:solidFill>
                  <a:srgbClr val="000000"/>
                </a:solidFill>
                <a:latin typeface="Inter Bold" pitchFamily="34" charset="0"/>
                <a:ea typeface="Inter Bold" pitchFamily="34" charset="-122"/>
                <a:cs typeface="Inter Bold" pitchFamily="34" charset="-120"/>
              </a:rPr>
              <a:t>Output Display</a:t>
            </a:r>
            <a:endParaRPr lang="en-US" sz="1900" dirty="0"/>
          </a:p>
        </p:txBody>
      </p:sp>
      <p:sp>
        <p:nvSpPr>
          <p:cNvPr id="8" name="Text 5"/>
          <p:cNvSpPr/>
          <p:nvPr/>
        </p:nvSpPr>
        <p:spPr>
          <a:xfrm>
            <a:off x="7336215" y="4130688"/>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b="1" dirty="0">
                <a:solidFill>
                  <a:srgbClr val="000000"/>
                </a:solidFill>
                <a:latin typeface="Inter Bold" pitchFamily="34" charset="0"/>
                <a:ea typeface="Inter Bold" pitchFamily="34" charset="-122"/>
                <a:cs typeface="Inter Bold" pitchFamily="34" charset="-120"/>
              </a:rPr>
              <a:t>Response Processing</a:t>
            </a:r>
            <a:endParaRPr lang="en-US" sz="1900" dirty="0"/>
          </a:p>
        </p:txBody>
      </p:sp>
      <p:sp>
        <p:nvSpPr>
          <p:cNvPr id="9" name="Text 6"/>
          <p:cNvSpPr/>
          <p:nvPr/>
        </p:nvSpPr>
        <p:spPr>
          <a:xfrm>
            <a:off x="5347253" y="4130688"/>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b="1" dirty="0">
                <a:solidFill>
                  <a:srgbClr val="000000"/>
                </a:solidFill>
                <a:latin typeface="Inter Bold" pitchFamily="34" charset="0"/>
                <a:ea typeface="Inter Bold" pitchFamily="34" charset="-122"/>
                <a:cs typeface="Inter Bold" pitchFamily="34" charset="-120"/>
              </a:rPr>
              <a:t>GenAI Model API Call</a:t>
            </a:r>
            <a:endParaRPr lang="en-US" sz="1900" dirty="0"/>
          </a:p>
        </p:txBody>
      </p:sp>
      <p:sp>
        <p:nvSpPr>
          <p:cNvPr id="10" name="Text 7"/>
          <p:cNvSpPr/>
          <p:nvPr/>
        </p:nvSpPr>
        <p:spPr>
          <a:xfrm>
            <a:off x="3358291" y="4130688"/>
            <a:ext cx="1586822" cy="611377"/>
          </a:xfrm>
          <a:prstGeom prst="rect">
            <a:avLst/>
          </a:prstGeom>
          <a:noFill/>
          <a:ln/>
        </p:spPr>
        <p:txBody>
          <a:bodyPr wrap="square" lIns="0" tIns="0" rIns="0" bIns="0" rtlCol="0" anchor="t">
            <a:normAutofit/>
          </a:bodyPr>
          <a:lstStyle/>
          <a:p>
            <a:pPr marL="0" indent="0" algn="ctr">
              <a:lnSpc>
                <a:spcPct val="104000"/>
              </a:lnSpc>
              <a:buNone/>
            </a:pPr>
            <a:r>
              <a:rPr lang="en-US" sz="1900" b="1" dirty="0">
                <a:solidFill>
                  <a:srgbClr val="000000"/>
                </a:solidFill>
                <a:latin typeface="Inter Bold" pitchFamily="34" charset="0"/>
                <a:ea typeface="Inter Bold" pitchFamily="34" charset="-122"/>
                <a:cs typeface="Inter Bold" pitchFamily="34" charset="-120"/>
              </a:rPr>
              <a:t>Prompt Construction</a:t>
            </a:r>
            <a:endParaRPr lang="en-US" sz="1900" dirty="0"/>
          </a:p>
        </p:txBody>
      </p:sp>
      <p:sp>
        <p:nvSpPr>
          <p:cNvPr id="11" name="Text 8"/>
          <p:cNvSpPr/>
          <p:nvPr/>
        </p:nvSpPr>
        <p:spPr>
          <a:xfrm>
            <a:off x="1325854" y="4283532"/>
            <a:ext cx="1586822" cy="305688"/>
          </a:xfrm>
          <a:prstGeom prst="rect">
            <a:avLst/>
          </a:prstGeom>
          <a:noFill/>
          <a:ln/>
        </p:spPr>
        <p:txBody>
          <a:bodyPr wrap="none" lIns="0" tIns="0" rIns="0" bIns="0" rtlCol="0" anchor="t"/>
          <a:lstStyle/>
          <a:p>
            <a:pPr marL="0" indent="0" algn="ctr">
              <a:lnSpc>
                <a:spcPct val="104000"/>
              </a:lnSpc>
              <a:buNone/>
            </a:pPr>
            <a:r>
              <a:rPr lang="en-US" sz="1900" b="1" dirty="0">
                <a:solidFill>
                  <a:srgbClr val="000000"/>
                </a:solidFill>
                <a:latin typeface="Inter Bold" pitchFamily="34" charset="0"/>
                <a:ea typeface="Inter Bold" pitchFamily="34" charset="-122"/>
                <a:cs typeface="Inter Bold" pitchFamily="34" charset="-120"/>
              </a:rPr>
              <a:t>User Input</a:t>
            </a:r>
            <a:endParaRPr lang="en-US" sz="1900" dirty="0"/>
          </a:p>
        </p:txBody>
      </p:sp>
      <p:sp>
        <p:nvSpPr>
          <p:cNvPr id="12" name="Text 9"/>
          <p:cNvSpPr/>
          <p:nvPr/>
        </p:nvSpPr>
        <p:spPr>
          <a:xfrm>
            <a:off x="661475" y="5372398"/>
            <a:ext cx="6422864" cy="157460"/>
          </a:xfrm>
          <a:prstGeom prst="rect">
            <a:avLst/>
          </a:prstGeom>
          <a:noFill/>
          <a:ln/>
        </p:spPr>
        <p:txBody>
          <a:bodyPr wrap="none" lIns="0" tIns="0" rIns="0" bIns="0" rtlCol="0" anchor="t"/>
          <a:lstStyle/>
          <a:p>
            <a:pPr marL="0" indent="0" algn="l">
              <a:lnSpc>
                <a:spcPct val="104000"/>
              </a:lnSpc>
              <a:buNone/>
            </a:pPr>
            <a:r>
              <a:rPr lang="en-US" sz="950" b="1" dirty="0">
                <a:solidFill>
                  <a:srgbClr val="000000"/>
                </a:solidFill>
                <a:latin typeface="Inter Bold" pitchFamily="34" charset="0"/>
                <a:ea typeface="Inter Bold" pitchFamily="34" charset="-122"/>
                <a:cs typeface="Inter Bold" pitchFamily="34" charset="-120"/>
              </a:rPr>
              <a:t>Step-by-Step Process</a:t>
            </a:r>
            <a:endParaRPr lang="en-US" sz="950" dirty="0"/>
          </a:p>
        </p:txBody>
      </p:sp>
      <p:sp>
        <p:nvSpPr>
          <p:cNvPr id="13" name="Text 10"/>
          <p:cNvSpPr/>
          <p:nvPr/>
        </p:nvSpPr>
        <p:spPr>
          <a:xfrm>
            <a:off x="661475" y="5591274"/>
            <a:ext cx="6422864" cy="734616"/>
          </a:xfrm>
          <a:prstGeom prst="rect">
            <a:avLst/>
          </a:prstGeom>
          <a:noFill/>
          <a:ln/>
        </p:spPr>
        <p:txBody>
          <a:bodyPr wrap="square" lIns="0" tIns="0" rIns="0" bIns="0" rtlCol="0" anchor="t">
            <a:normAutofit/>
          </a:bodyPr>
          <a:lstStyle/>
          <a:p>
            <a:pPr marL="152400" indent="-152400" algn="l">
              <a:lnSpc>
                <a:spcPct val="107000"/>
              </a:lnSpc>
              <a:buSzPct val="100000"/>
              <a:buFont typeface="+mj-lt"/>
              <a:buAutoNum type="arabicPeriod"/>
            </a:pPr>
            <a:r>
              <a:rPr lang="en-US" sz="750" b="1" dirty="0">
                <a:solidFill>
                  <a:srgbClr val="000000"/>
                </a:solidFill>
                <a:latin typeface="Inter Bold" pitchFamily="34" charset="0"/>
                <a:ea typeface="Inter Bold" pitchFamily="34" charset="-122"/>
                <a:cs typeface="Inter Bold" pitchFamily="34" charset="-120"/>
              </a:rPr>
              <a:t>User Input:</a:t>
            </a:r>
            <a:r>
              <a:rPr lang="en-US" sz="750" dirty="0">
                <a:solidFill>
                  <a:srgbClr val="000000"/>
                </a:solidFill>
                <a:latin typeface="Inter" pitchFamily="34" charset="0"/>
                <a:ea typeface="Inter" pitchFamily="34" charset="-122"/>
                <a:cs typeface="Inter" pitchFamily="34" charset="-120"/>
              </a:rPr>
              <a:t> The user types a study question in the chat box of the web interface.</a:t>
            </a:r>
            <a:endParaRPr lang="en-US" sz="750" dirty="0"/>
          </a:p>
          <a:p>
            <a:pPr marL="152400" indent="-152400" algn="l">
              <a:lnSpc>
                <a:spcPct val="107000"/>
              </a:lnSpc>
              <a:buSzPct val="100000"/>
              <a:buFont typeface="+mj-lt"/>
              <a:buAutoNum type="arabicPeriod" startAt="2"/>
            </a:pPr>
            <a:r>
              <a:rPr lang="en-US" sz="750" b="1" dirty="0">
                <a:solidFill>
                  <a:srgbClr val="000000"/>
                </a:solidFill>
                <a:latin typeface="Inter Bold" pitchFamily="34" charset="0"/>
                <a:ea typeface="Inter Bold" pitchFamily="34" charset="-122"/>
                <a:cs typeface="Inter Bold" pitchFamily="34" charset="-120"/>
              </a:rPr>
              <a:t>Prompt Construction:</a:t>
            </a:r>
            <a:r>
              <a:rPr lang="en-US" sz="750" dirty="0">
                <a:solidFill>
                  <a:srgbClr val="000000"/>
                </a:solidFill>
                <a:latin typeface="Inter" pitchFamily="34" charset="0"/>
                <a:ea typeface="Inter" pitchFamily="34" charset="-122"/>
                <a:cs typeface="Inter" pitchFamily="34" charset="-120"/>
              </a:rPr>
              <a:t> The question is combined with a system prompt and the selected answer style to build an effective prompt.</a:t>
            </a:r>
            <a:endParaRPr lang="en-US" sz="750" dirty="0"/>
          </a:p>
          <a:p>
            <a:pPr marL="152400" indent="-152400" algn="l">
              <a:lnSpc>
                <a:spcPct val="107000"/>
              </a:lnSpc>
              <a:buSzPct val="100000"/>
              <a:buFont typeface="+mj-lt"/>
              <a:buAutoNum type="arabicPeriod" startAt="3"/>
            </a:pPr>
            <a:r>
              <a:rPr lang="en-US" sz="750" b="1" dirty="0">
                <a:solidFill>
                  <a:srgbClr val="000000"/>
                </a:solidFill>
                <a:latin typeface="Inter Bold" pitchFamily="34" charset="0"/>
                <a:ea typeface="Inter Bold" pitchFamily="34" charset="-122"/>
                <a:cs typeface="Inter Bold" pitchFamily="34" charset="-120"/>
              </a:rPr>
              <a:t>API Call:</a:t>
            </a:r>
            <a:r>
              <a:rPr lang="en-US" sz="750" dirty="0">
                <a:solidFill>
                  <a:srgbClr val="000000"/>
                </a:solidFill>
                <a:latin typeface="Inter" pitchFamily="34" charset="0"/>
                <a:ea typeface="Inter" pitchFamily="34" charset="-122"/>
                <a:cs typeface="Inter" pitchFamily="34" charset="-120"/>
              </a:rPr>
              <a:t> The constructed prompt is sent to the Google Gemini model via a secure, authenticated request using an API key.</a:t>
            </a:r>
            <a:endParaRPr lang="en-US" sz="750" dirty="0"/>
          </a:p>
          <a:p>
            <a:pPr marL="152400" indent="-152400" algn="l">
              <a:lnSpc>
                <a:spcPct val="107000"/>
              </a:lnSpc>
              <a:buSzPct val="100000"/>
              <a:buFont typeface="+mj-lt"/>
              <a:buAutoNum type="arabicPeriod" startAt="4"/>
            </a:pPr>
            <a:r>
              <a:rPr lang="en-US" sz="750" b="1" dirty="0">
                <a:solidFill>
                  <a:srgbClr val="000000"/>
                </a:solidFill>
                <a:latin typeface="Inter Bold" pitchFamily="34" charset="0"/>
                <a:ea typeface="Inter Bold" pitchFamily="34" charset="-122"/>
                <a:cs typeface="Inter Bold" pitchFamily="34" charset="-120"/>
              </a:rPr>
              <a:t>Processing:</a:t>
            </a:r>
            <a:r>
              <a:rPr lang="en-US" sz="750" dirty="0">
                <a:solidFill>
                  <a:srgbClr val="000000"/>
                </a:solidFill>
                <a:latin typeface="Inter" pitchFamily="34" charset="0"/>
                <a:ea typeface="Inter" pitchFamily="34" charset="-122"/>
                <a:cs typeface="Inter" pitchFamily="34" charset="-120"/>
              </a:rPr>
              <a:t> The model generates a response, which is parsed, validated, and post-processed as needed.</a:t>
            </a:r>
            <a:endParaRPr lang="en-US" sz="750" dirty="0"/>
          </a:p>
          <a:p>
            <a:pPr marL="152400" indent="-152400" algn="l">
              <a:lnSpc>
                <a:spcPct val="107000"/>
              </a:lnSpc>
              <a:buSzPct val="100000"/>
              <a:buFont typeface="+mj-lt"/>
              <a:buAutoNum type="arabicPeriod" startAt="5"/>
            </a:pPr>
            <a:r>
              <a:rPr lang="en-US" sz="750" b="1" dirty="0">
                <a:solidFill>
                  <a:srgbClr val="000000"/>
                </a:solidFill>
                <a:latin typeface="Inter Bold" pitchFamily="34" charset="0"/>
                <a:ea typeface="Inter Bold" pitchFamily="34" charset="-122"/>
                <a:cs typeface="Inter Bold" pitchFamily="34" charset="-120"/>
              </a:rPr>
              <a:t>Output Display:</a:t>
            </a:r>
            <a:r>
              <a:rPr lang="en-US" sz="750" dirty="0">
                <a:solidFill>
                  <a:srgbClr val="000000"/>
                </a:solidFill>
                <a:latin typeface="Inter" pitchFamily="34" charset="0"/>
                <a:ea typeface="Inter" pitchFamily="34" charset="-122"/>
                <a:cs typeface="Inter" pitchFamily="34" charset="-120"/>
              </a:rPr>
              <a:t> The formatted result is rendered back to the user in a clear, readable, and actionable format.</a:t>
            </a:r>
            <a:endParaRPr lang="en-US" sz="750" dirty="0"/>
          </a:p>
        </p:txBody>
      </p:sp>
      <p:sp>
        <p:nvSpPr>
          <p:cNvPr id="14" name="Text 11"/>
          <p:cNvSpPr/>
          <p:nvPr/>
        </p:nvSpPr>
        <p:spPr>
          <a:xfrm>
            <a:off x="7336547" y="5372398"/>
            <a:ext cx="4199924" cy="157460"/>
          </a:xfrm>
          <a:prstGeom prst="rect">
            <a:avLst/>
          </a:prstGeom>
          <a:noFill/>
          <a:ln/>
        </p:spPr>
        <p:txBody>
          <a:bodyPr wrap="none" lIns="0" tIns="0" rIns="0" bIns="0" rtlCol="0" anchor="t"/>
          <a:lstStyle/>
          <a:p>
            <a:pPr marL="0" indent="0" algn="l">
              <a:lnSpc>
                <a:spcPct val="104000"/>
              </a:lnSpc>
              <a:buNone/>
            </a:pPr>
            <a:r>
              <a:rPr lang="en-US" sz="950" b="1" dirty="0">
                <a:solidFill>
                  <a:srgbClr val="000000"/>
                </a:solidFill>
                <a:latin typeface="Inter Bold" pitchFamily="34" charset="0"/>
                <a:ea typeface="Inter Bold" pitchFamily="34" charset="-122"/>
                <a:cs typeface="Inter Bold" pitchFamily="34" charset="-120"/>
              </a:rPr>
              <a:t>Key Design Decisions</a:t>
            </a:r>
            <a:endParaRPr lang="en-US" sz="950" dirty="0"/>
          </a:p>
        </p:txBody>
      </p:sp>
      <p:sp>
        <p:nvSpPr>
          <p:cNvPr id="15" name="Text 12"/>
          <p:cNvSpPr/>
          <p:nvPr/>
        </p:nvSpPr>
        <p:spPr>
          <a:xfrm>
            <a:off x="7336547" y="5591274"/>
            <a:ext cx="4199924" cy="432197"/>
          </a:xfrm>
          <a:prstGeom prst="rect">
            <a:avLst/>
          </a:prstGeom>
          <a:noFill/>
          <a:ln/>
        </p:spPr>
        <p:txBody>
          <a:bodyPr wrap="square" lIns="0" tIns="0" rIns="0" bIns="0" rtlCol="0" anchor="t">
            <a:normAutofit/>
          </a:bodyPr>
          <a:lstStyle/>
          <a:p>
            <a:pPr marL="152400" indent="-152400" algn="l">
              <a:lnSpc>
                <a:spcPct val="107000"/>
              </a:lnSpc>
              <a:buSzPct val="100000"/>
              <a:buChar char="•"/>
            </a:pPr>
            <a:r>
              <a:rPr lang="en-US" sz="750" dirty="0">
                <a:solidFill>
                  <a:srgbClr val="000000"/>
                </a:solidFill>
                <a:latin typeface="Inter" pitchFamily="34" charset="0"/>
                <a:ea typeface="Inter" pitchFamily="34" charset="-122"/>
                <a:cs typeface="Inter" pitchFamily="34" charset="-120"/>
              </a:rPr>
              <a:t>Answer-style prompt templates keep responses consistent</a:t>
            </a:r>
            <a:endParaRPr lang="en-US" sz="750" dirty="0"/>
          </a:p>
          <a:p>
            <a:pPr marL="152400" indent="-152400" algn="l">
              <a:lnSpc>
                <a:spcPct val="107000"/>
              </a:lnSpc>
              <a:buSzPct val="100000"/>
              <a:buChar char="•"/>
            </a:pPr>
            <a:r>
              <a:rPr lang="en-US" sz="750" dirty="0">
                <a:solidFill>
                  <a:srgbClr val="000000"/>
                </a:solidFill>
                <a:latin typeface="Inter" pitchFamily="34" charset="0"/>
                <a:ea typeface="Inter" pitchFamily="34" charset="-122"/>
                <a:cs typeface="Inter" pitchFamily="34" charset="-120"/>
              </a:rPr>
              <a:t>Input validation blocks empty text and limits question length</a:t>
            </a:r>
            <a:endParaRPr lang="en-US" sz="750" dirty="0"/>
          </a:p>
          <a:p>
            <a:pPr marL="152400" indent="-152400" algn="l">
              <a:lnSpc>
                <a:spcPct val="107000"/>
              </a:lnSpc>
              <a:buSzPct val="100000"/>
              <a:buChar char="•"/>
            </a:pPr>
            <a:r>
              <a:rPr lang="en-US" sz="750" dirty="0">
                <a:solidFill>
                  <a:srgbClr val="000000"/>
                </a:solidFill>
                <a:latin typeface="Inter" pitchFamily="34" charset="0"/>
                <a:ea typeface="Inter" pitchFamily="34" charset="-122"/>
                <a:cs typeface="Inter" pitchFamily="34" charset="-120"/>
              </a:rPr>
              <a:t>Fallback to alternate Gemini models handles API errors gracefully</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454819"/>
            <a:ext cx="468896" cy="125710"/>
          </a:xfrm>
          <a:prstGeom prst="roundRect">
            <a:avLst>
              <a:gd name="adj" fmla="val 22103"/>
            </a:avLst>
          </a:prstGeom>
          <a:solidFill>
            <a:srgbClr val="D9DFF2"/>
          </a:solidFill>
          <a:ln/>
        </p:spPr>
      </p:sp>
      <p:sp>
        <p:nvSpPr>
          <p:cNvPr id="3" name="Text 1"/>
          <p:cNvSpPr/>
          <p:nvPr/>
        </p:nvSpPr>
        <p:spPr>
          <a:xfrm>
            <a:off x="711083" y="479623"/>
            <a:ext cx="979265" cy="76101"/>
          </a:xfrm>
          <a:prstGeom prst="rect">
            <a:avLst/>
          </a:prstGeom>
          <a:noFill/>
          <a:ln/>
        </p:spPr>
        <p:txBody>
          <a:bodyPr wrap="none" lIns="0" tIns="0" rIns="0" bIns="0" rtlCol="0" anchor="t"/>
          <a:lstStyle/>
          <a:p>
            <a:pPr marL="0" indent="0" algn="l">
              <a:lnSpc>
                <a:spcPct val="96000"/>
              </a:lnSpc>
              <a:buNone/>
            </a:pPr>
            <a:r>
              <a:rPr lang="en-US" sz="500" dirty="0">
                <a:solidFill>
                  <a:srgbClr val="000000"/>
                </a:solidFill>
                <a:latin typeface="Inter" pitchFamily="34" charset="0"/>
                <a:ea typeface="Inter" pitchFamily="34" charset="-122"/>
                <a:cs typeface="Inter" pitchFamily="34" charset="-120"/>
              </a:rPr>
              <a:t>CHAPTER 6</a:t>
            </a:r>
            <a:endParaRPr lang="en-US" sz="500" dirty="0"/>
          </a:p>
        </p:txBody>
      </p:sp>
      <p:sp>
        <p:nvSpPr>
          <p:cNvPr id="4" name="Text 2"/>
          <p:cNvSpPr/>
          <p:nvPr/>
        </p:nvSpPr>
        <p:spPr>
          <a:xfrm>
            <a:off x="661475" y="596999"/>
            <a:ext cx="10868745"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System Architecture &amp; Workflow</a:t>
            </a:r>
            <a:endParaRPr lang="en-US" sz="1600" dirty="0"/>
          </a:p>
        </p:txBody>
      </p:sp>
      <p:sp>
        <p:nvSpPr>
          <p:cNvPr id="5" name="Text 3"/>
          <p:cNvSpPr/>
          <p:nvPr/>
        </p:nvSpPr>
        <p:spPr>
          <a:xfrm>
            <a:off x="661475" y="917476"/>
            <a:ext cx="11478330" cy="99120"/>
          </a:xfrm>
          <a:prstGeom prst="rect">
            <a:avLst/>
          </a:prstGeom>
          <a:noFill/>
          <a:ln/>
        </p:spPr>
        <p:txBody>
          <a:bodyPr wrap="none" lIns="0" tIns="0" rIns="0" bIns="0" rtlCol="0" anchor="t"/>
          <a:lstStyle/>
          <a:p>
            <a:pPr marL="0" indent="0" algn="l">
              <a:lnSpc>
                <a:spcPct val="100000"/>
              </a:lnSpc>
              <a:buNone/>
            </a:pPr>
            <a:r>
              <a:rPr lang="en-US" sz="650" dirty="0">
                <a:solidFill>
                  <a:srgbClr val="000000"/>
                </a:solidFill>
                <a:latin typeface="Inter" pitchFamily="34" charset="0"/>
                <a:ea typeface="Inter" pitchFamily="34" charset="-122"/>
                <a:cs typeface="Inter" pitchFamily="34" charset="-120"/>
              </a:rPr>
              <a:t>The architecture diagram below illustrates the complete data flow from user interaction to AI-generated response and back.</a:t>
            </a:r>
            <a:endParaRPr lang="en-US" sz="650" dirty="0"/>
          </a:p>
        </p:txBody>
      </p:sp>
      <p:pic>
        <p:nvPicPr>
          <p:cNvPr id="6" name="Image 0" descr="preencoded.png"/>
          <p:cNvPicPr>
            <a:picLocks noChangeAspect="1"/>
          </p:cNvPicPr>
          <p:nvPr/>
        </p:nvPicPr>
        <p:blipFill>
          <a:blip r:embed="rId3"/>
          <a:stretch>
            <a:fillRect/>
          </a:stretch>
        </p:blipFill>
        <p:spPr>
          <a:xfrm>
            <a:off x="661475" y="1063030"/>
            <a:ext cx="9753356" cy="5486400"/>
          </a:xfrm>
          <a:prstGeom prst="rect">
            <a:avLst/>
          </a:prstGeom>
        </p:spPr>
      </p:pic>
      <p:sp>
        <p:nvSpPr>
          <p:cNvPr id="7" name="Text 4"/>
          <p:cNvSpPr/>
          <p:nvPr/>
        </p:nvSpPr>
        <p:spPr>
          <a:xfrm>
            <a:off x="661475" y="6637139"/>
            <a:ext cx="5333569" cy="129183"/>
          </a:xfrm>
          <a:prstGeom prst="rect">
            <a:avLst/>
          </a:prstGeom>
          <a:noFill/>
          <a:ln/>
        </p:spPr>
        <p:txBody>
          <a:bodyPr wrap="none" lIns="0" tIns="0" rIns="0" bIns="0" rtlCol="0" anchor="t"/>
          <a:lstStyle/>
          <a:p>
            <a:pPr marL="0" indent="0" algn="l">
              <a:lnSpc>
                <a:spcPct val="104000"/>
              </a:lnSpc>
              <a:buNone/>
            </a:pPr>
            <a:r>
              <a:rPr lang="en-US" sz="800" b="1" dirty="0">
                <a:solidFill>
                  <a:srgbClr val="000000"/>
                </a:solidFill>
                <a:latin typeface="Inter Bold" pitchFamily="34" charset="0"/>
                <a:ea typeface="Inter Bold" pitchFamily="34" charset="-122"/>
                <a:cs typeface="Inter Bold" pitchFamily="34" charset="-120"/>
              </a:rPr>
              <a:t>Frontend Layer</a:t>
            </a:r>
            <a:endParaRPr lang="en-US" sz="800" dirty="0"/>
          </a:p>
        </p:txBody>
      </p:sp>
      <p:sp>
        <p:nvSpPr>
          <p:cNvPr id="8" name="Text 5"/>
          <p:cNvSpPr/>
          <p:nvPr/>
        </p:nvSpPr>
        <p:spPr>
          <a:xfrm>
            <a:off x="661475" y="6807597"/>
            <a:ext cx="5333569"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000000"/>
                </a:solidFill>
                <a:latin typeface="Inter" pitchFamily="34" charset="0"/>
                <a:ea typeface="Inter" pitchFamily="34" charset="-122"/>
                <a:cs typeface="Inter" pitchFamily="34" charset="-120"/>
              </a:rPr>
              <a:t>Users interact through a browser-based Streamlit UI. The question is typed in a chat box, validated (empty or over-long input) and forwarded to the backend.</a:t>
            </a:r>
            <a:endParaRPr lang="en-US" sz="650" dirty="0"/>
          </a:p>
        </p:txBody>
      </p:sp>
      <p:sp>
        <p:nvSpPr>
          <p:cNvPr id="9" name="Text 6"/>
          <p:cNvSpPr/>
          <p:nvPr/>
        </p:nvSpPr>
        <p:spPr>
          <a:xfrm>
            <a:off x="6203001" y="6637139"/>
            <a:ext cx="5333569" cy="129183"/>
          </a:xfrm>
          <a:prstGeom prst="rect">
            <a:avLst/>
          </a:prstGeom>
          <a:noFill/>
          <a:ln/>
        </p:spPr>
        <p:txBody>
          <a:bodyPr wrap="none" lIns="0" tIns="0" rIns="0" bIns="0" rtlCol="0" anchor="t"/>
          <a:lstStyle/>
          <a:p>
            <a:pPr marL="0" indent="0" algn="l">
              <a:lnSpc>
                <a:spcPct val="104000"/>
              </a:lnSpc>
              <a:buNone/>
            </a:pPr>
            <a:r>
              <a:rPr lang="en-US" sz="800" b="1" dirty="0">
                <a:solidFill>
                  <a:srgbClr val="000000"/>
                </a:solidFill>
                <a:latin typeface="Inter Bold" pitchFamily="34" charset="0"/>
                <a:ea typeface="Inter Bold" pitchFamily="34" charset="-122"/>
                <a:cs typeface="Inter Bold" pitchFamily="34" charset="-120"/>
              </a:rPr>
              <a:t>Backend &amp; AI Layer</a:t>
            </a:r>
            <a:endParaRPr lang="en-US" sz="800" dirty="0"/>
          </a:p>
        </p:txBody>
      </p:sp>
      <p:sp>
        <p:nvSpPr>
          <p:cNvPr id="10" name="Text 7"/>
          <p:cNvSpPr/>
          <p:nvPr/>
        </p:nvSpPr>
        <p:spPr>
          <a:xfrm>
            <a:off x="6203001" y="6807597"/>
            <a:ext cx="5333569" cy="198239"/>
          </a:xfrm>
          <a:prstGeom prst="rect">
            <a:avLst/>
          </a:prstGeom>
          <a:noFill/>
          <a:ln/>
        </p:spPr>
        <p:txBody>
          <a:bodyPr wrap="square" lIns="0" tIns="0" rIns="0" bIns="0" rtlCol="0" anchor="t">
            <a:normAutofit/>
          </a:bodyPr>
          <a:lstStyle/>
          <a:p>
            <a:pPr marL="0" indent="0" algn="l">
              <a:lnSpc>
                <a:spcPct val="100000"/>
              </a:lnSpc>
              <a:buNone/>
            </a:pPr>
            <a:r>
              <a:rPr lang="en-US" sz="650" dirty="0">
                <a:solidFill>
                  <a:srgbClr val="000000"/>
                </a:solidFill>
                <a:latin typeface="Inter" pitchFamily="34" charset="0"/>
                <a:ea typeface="Inter" pitchFamily="34" charset="-122"/>
                <a:cs typeface="Inter" pitchFamily="34" charset="-120"/>
              </a:rPr>
              <a:t>The Python backend builds the prompt, authenticates the Gemini API call, tries fallback models if needed, and returns the generated answer to the chat window.</a:t>
            </a:r>
            <a:endParaRPr lang="en-US" sz="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500658"/>
            <a:ext cx="901677" cy="243384"/>
          </a:xfrm>
          <a:prstGeom prst="roundRect">
            <a:avLst>
              <a:gd name="adj" fmla="val 22119"/>
            </a:avLst>
          </a:prstGeom>
          <a:solidFill>
            <a:srgbClr val="D9DFF2"/>
          </a:solidFill>
          <a:ln/>
        </p:spPr>
      </p:sp>
      <p:sp>
        <p:nvSpPr>
          <p:cNvPr id="3" name="Text 1"/>
          <p:cNvSpPr/>
          <p:nvPr/>
        </p:nvSpPr>
        <p:spPr>
          <a:xfrm>
            <a:off x="757516" y="548680"/>
            <a:ext cx="1319179" cy="147340"/>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Inter" pitchFamily="34" charset="0"/>
                <a:ea typeface="Inter" pitchFamily="34" charset="-122"/>
                <a:cs typeface="Inter" pitchFamily="34" charset="-120"/>
              </a:rPr>
              <a:t>CHAPTER 7</a:t>
            </a:r>
            <a:endParaRPr lang="en-US" sz="1000" dirty="0"/>
          </a:p>
        </p:txBody>
      </p:sp>
      <p:sp>
        <p:nvSpPr>
          <p:cNvPr id="4" name="Text 2"/>
          <p:cNvSpPr/>
          <p:nvPr/>
        </p:nvSpPr>
        <p:spPr>
          <a:xfrm>
            <a:off x="661475" y="806053"/>
            <a:ext cx="10868745" cy="500658"/>
          </a:xfrm>
          <a:prstGeom prst="rect">
            <a:avLst/>
          </a:prstGeom>
          <a:noFill/>
          <a:ln/>
        </p:spPr>
        <p:txBody>
          <a:bodyPr wrap="none" lIns="0" tIns="0" rIns="0" bIns="0" rtlCol="0" anchor="t"/>
          <a:lstStyle/>
          <a:p>
            <a:pPr marL="0" indent="0" algn="l">
              <a:lnSpc>
                <a:spcPct val="104000"/>
              </a:lnSpc>
              <a:buNone/>
            </a:pPr>
            <a:r>
              <a:rPr lang="en-US" sz="3150" b="1" dirty="0">
                <a:solidFill>
                  <a:srgbClr val="000000"/>
                </a:solidFill>
                <a:latin typeface="Inter Bold" pitchFamily="34" charset="0"/>
                <a:ea typeface="Inter Bold" pitchFamily="34" charset="-122"/>
                <a:cs typeface="Inter Bold" pitchFamily="34" charset="-120"/>
              </a:rPr>
              <a:t>Implementation</a:t>
            </a:r>
            <a:endParaRPr lang="en-US" sz="3150" dirty="0"/>
          </a:p>
        </p:txBody>
      </p:sp>
      <p:sp>
        <p:nvSpPr>
          <p:cNvPr id="5" name="Text 3"/>
          <p:cNvSpPr/>
          <p:nvPr/>
        </p:nvSpPr>
        <p:spPr>
          <a:xfrm>
            <a:off x="661475" y="1694656"/>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Technology Stack</a:t>
            </a:r>
            <a:endParaRPr lang="en-US" sz="1550" dirty="0"/>
          </a:p>
        </p:txBody>
      </p:sp>
      <p:sp>
        <p:nvSpPr>
          <p:cNvPr id="6" name="Shape 4"/>
          <p:cNvSpPr/>
          <p:nvPr/>
        </p:nvSpPr>
        <p:spPr>
          <a:xfrm>
            <a:off x="661475" y="2119511"/>
            <a:ext cx="2541822" cy="1495425"/>
          </a:xfrm>
          <a:prstGeom prst="roundRect">
            <a:avLst>
              <a:gd name="adj" fmla="val 4500"/>
            </a:avLst>
          </a:prstGeom>
          <a:solidFill>
            <a:srgbClr val="D9DFF2"/>
          </a:solidFill>
          <a:ln w="6350">
            <a:solidFill>
              <a:srgbClr val="BFC5D8"/>
            </a:solidFill>
            <a:prstDash val="solid"/>
          </a:ln>
        </p:spPr>
      </p:sp>
      <p:sp>
        <p:nvSpPr>
          <p:cNvPr id="7" name="Text 5"/>
          <p:cNvSpPr/>
          <p:nvPr/>
        </p:nvSpPr>
        <p:spPr>
          <a:xfrm>
            <a:off x="827960" y="2286000"/>
            <a:ext cx="2208852" cy="250329"/>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Frontend</a:t>
            </a:r>
            <a:endParaRPr lang="en-US" sz="1550" dirty="0"/>
          </a:p>
        </p:txBody>
      </p:sp>
      <p:sp>
        <p:nvSpPr>
          <p:cNvPr id="8" name="Text 6"/>
          <p:cNvSpPr/>
          <p:nvPr/>
        </p:nvSpPr>
        <p:spPr>
          <a:xfrm>
            <a:off x="827960" y="2691507"/>
            <a:ext cx="2208852"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000000"/>
                </a:solidFill>
                <a:latin typeface="Inter" pitchFamily="34" charset="0"/>
                <a:ea typeface="Inter" pitchFamily="34" charset="-122"/>
                <a:cs typeface="Inter" pitchFamily="34" charset="-120"/>
              </a:rPr>
              <a:t>Streamlit (Python) — chat-style web interface and user interaction layer.</a:t>
            </a:r>
            <a:endParaRPr lang="en-US" sz="1250" dirty="0"/>
          </a:p>
        </p:txBody>
      </p:sp>
      <p:sp>
        <p:nvSpPr>
          <p:cNvPr id="9" name="Shape 7"/>
          <p:cNvSpPr/>
          <p:nvPr/>
        </p:nvSpPr>
        <p:spPr>
          <a:xfrm>
            <a:off x="3358471" y="2119511"/>
            <a:ext cx="2541921" cy="1495425"/>
          </a:xfrm>
          <a:prstGeom prst="roundRect">
            <a:avLst>
              <a:gd name="adj" fmla="val 4500"/>
            </a:avLst>
          </a:prstGeom>
          <a:solidFill>
            <a:srgbClr val="D9DFF2"/>
          </a:solidFill>
          <a:ln w="6350">
            <a:solidFill>
              <a:srgbClr val="BFC5D8"/>
            </a:solidFill>
            <a:prstDash val="solid"/>
          </a:ln>
        </p:spPr>
      </p:sp>
      <p:sp>
        <p:nvSpPr>
          <p:cNvPr id="10" name="Text 8"/>
          <p:cNvSpPr/>
          <p:nvPr/>
        </p:nvSpPr>
        <p:spPr>
          <a:xfrm>
            <a:off x="3524956" y="2286000"/>
            <a:ext cx="2208951" cy="250329"/>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Backend</a:t>
            </a:r>
            <a:endParaRPr lang="en-US" sz="1550" dirty="0"/>
          </a:p>
        </p:txBody>
      </p:sp>
      <p:sp>
        <p:nvSpPr>
          <p:cNvPr id="11" name="Text 9"/>
          <p:cNvSpPr/>
          <p:nvPr/>
        </p:nvSpPr>
        <p:spPr>
          <a:xfrm>
            <a:off x="3524956" y="2691507"/>
            <a:ext cx="2208951" cy="756940"/>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000000"/>
                </a:solidFill>
                <a:latin typeface="Inter" pitchFamily="34" charset="0"/>
                <a:ea typeface="Inter" pitchFamily="34" charset="-122"/>
                <a:cs typeface="Inter" pitchFamily="34" charset="-120"/>
              </a:rPr>
              <a:t>Python 3.13 — application logic, prompt building and API calls.</a:t>
            </a:r>
            <a:endParaRPr lang="en-US" sz="1250" dirty="0"/>
          </a:p>
        </p:txBody>
      </p:sp>
      <p:sp>
        <p:nvSpPr>
          <p:cNvPr id="12" name="Shape 10"/>
          <p:cNvSpPr/>
          <p:nvPr/>
        </p:nvSpPr>
        <p:spPr>
          <a:xfrm>
            <a:off x="661475" y="3770114"/>
            <a:ext cx="5238917" cy="1243112"/>
          </a:xfrm>
          <a:prstGeom prst="roundRect">
            <a:avLst>
              <a:gd name="adj" fmla="val 5413"/>
            </a:avLst>
          </a:prstGeom>
          <a:solidFill>
            <a:srgbClr val="D9DFF2"/>
          </a:solidFill>
          <a:ln w="6350">
            <a:solidFill>
              <a:srgbClr val="BFC5D8"/>
            </a:solidFill>
            <a:prstDash val="solid"/>
          </a:ln>
        </p:spPr>
      </p:sp>
      <p:sp>
        <p:nvSpPr>
          <p:cNvPr id="13" name="Text 11"/>
          <p:cNvSpPr/>
          <p:nvPr/>
        </p:nvSpPr>
        <p:spPr>
          <a:xfrm>
            <a:off x="827960" y="3936603"/>
            <a:ext cx="4905947" cy="250329"/>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GenAI Model</a:t>
            </a:r>
            <a:endParaRPr lang="en-US" sz="1550" dirty="0"/>
          </a:p>
        </p:txBody>
      </p:sp>
      <p:sp>
        <p:nvSpPr>
          <p:cNvPr id="14" name="Text 12"/>
          <p:cNvSpPr/>
          <p:nvPr/>
        </p:nvSpPr>
        <p:spPr>
          <a:xfrm>
            <a:off x="827960" y="4342110"/>
            <a:ext cx="4905947"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000000"/>
                </a:solidFill>
                <a:latin typeface="Inter" pitchFamily="34" charset="0"/>
                <a:ea typeface="Inter" pitchFamily="34" charset="-122"/>
                <a:cs typeface="Inter" pitchFamily="34" charset="-120"/>
              </a:rPr>
              <a:t>Google Gemini API (google-genai SDK) — core AI generation engine.</a:t>
            </a:r>
            <a:endParaRPr lang="en-US" sz="1250" dirty="0"/>
          </a:p>
        </p:txBody>
      </p:sp>
      <p:sp>
        <p:nvSpPr>
          <p:cNvPr id="15" name="Text 13"/>
          <p:cNvSpPr/>
          <p:nvPr/>
        </p:nvSpPr>
        <p:spPr>
          <a:xfrm>
            <a:off x="6297653" y="1694656"/>
            <a:ext cx="5238917" cy="250329"/>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Integration &amp; Prompt Engineering</a:t>
            </a:r>
            <a:endParaRPr lang="en-US" sz="1550" dirty="0"/>
          </a:p>
        </p:txBody>
      </p:sp>
      <p:sp>
        <p:nvSpPr>
          <p:cNvPr id="16" name="Text 14"/>
          <p:cNvSpPr/>
          <p:nvPr/>
        </p:nvSpPr>
        <p:spPr>
          <a:xfrm>
            <a:off x="6297653" y="2100163"/>
            <a:ext cx="5238917" cy="1148854"/>
          </a:xfrm>
          <a:prstGeom prst="rect">
            <a:avLst/>
          </a:prstGeom>
          <a:noFill/>
          <a:ln/>
        </p:spPr>
        <p:txBody>
          <a:bodyPr wrap="square" lIns="0" tIns="0" rIns="0" bIns="0" rtlCol="0" anchor="t">
            <a:normAutofit/>
          </a:bodyPr>
          <a:lstStyle/>
          <a:p>
            <a:pPr marL="0" indent="0" algn="l">
              <a:lnSpc>
                <a:spcPct val="131000"/>
              </a:lnSpc>
              <a:spcAft>
                <a:spcPts val="1050"/>
              </a:spcAft>
              <a:buNone/>
            </a:pPr>
            <a:r>
              <a:rPr lang="en-US" sz="1250" dirty="0">
                <a:solidFill>
                  <a:srgbClr val="000000"/>
                </a:solidFill>
                <a:latin typeface="Inter" pitchFamily="34" charset="0"/>
                <a:ea typeface="Inter" pitchFamily="34" charset="-122"/>
                <a:cs typeface="Inter" pitchFamily="34" charset="-120"/>
              </a:rPr>
              <a:t>The GenAI model is integrated via authenticated API calls using Google's official google-genai SDK. The API key is entered in the sidebar as a password field and is never written in the code.</a:t>
            </a:r>
            <a:endParaRPr lang="en-US" sz="1250" dirty="0"/>
          </a:p>
          <a:p>
            <a:pPr marL="0" indent="0" algn="l">
              <a:lnSpc>
                <a:spcPct val="131000"/>
              </a:lnSpc>
              <a:buNone/>
            </a:pPr>
            <a:r>
              <a:rPr lang="en-US" sz="1250" dirty="0">
                <a:solidFill>
                  <a:srgbClr val="000000"/>
                </a:solidFill>
                <a:latin typeface="Inter" pitchFamily="34" charset="0"/>
                <a:ea typeface="Inter" pitchFamily="34" charset="-122"/>
                <a:cs typeface="Inter" pitchFamily="34" charset="-120"/>
              </a:rPr>
              <a:t>Prompts are constructed dynamically using a template system:</a:t>
            </a:r>
            <a:endParaRPr lang="en-US" sz="1250" dirty="0"/>
          </a:p>
        </p:txBody>
      </p:sp>
      <p:sp>
        <p:nvSpPr>
          <p:cNvPr id="17" name="Shape 15"/>
          <p:cNvSpPr/>
          <p:nvPr/>
        </p:nvSpPr>
        <p:spPr>
          <a:xfrm>
            <a:off x="6297653" y="3423543"/>
            <a:ext cx="5238917" cy="2114947"/>
          </a:xfrm>
          <a:prstGeom prst="roundRect">
            <a:avLst>
              <a:gd name="adj" fmla="val 3182"/>
            </a:avLst>
          </a:prstGeom>
          <a:solidFill>
            <a:srgbClr val="F2F2F2"/>
          </a:solidFill>
          <a:ln/>
        </p:spPr>
      </p:sp>
      <p:sp>
        <p:nvSpPr>
          <p:cNvPr id="18" name="Text 16"/>
          <p:cNvSpPr/>
          <p:nvPr/>
        </p:nvSpPr>
        <p:spPr>
          <a:xfrm>
            <a:off x="6489835" y="3583682"/>
            <a:ext cx="4854553" cy="1794669"/>
          </a:xfrm>
          <a:prstGeom prst="rect">
            <a:avLst/>
          </a:prstGeom>
          <a:noFill/>
          <a:ln/>
        </p:spPr>
        <p:txBody>
          <a:bodyPr wrap="square" lIns="0" tIns="0" rIns="0" bIns="0" rtlCol="0" anchor="t">
            <a:normAutofit/>
          </a:bodyPr>
          <a:lstStyle/>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system_prompt = "You are a friendly AI Study Assistant..."</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style = STYLES[selected_style]</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prompt = f"{style}\nQuestion: {question}"</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response = client.models.generate_content(</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model="gemini-3.8-flash",</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    contents=prompt, config=config</a:t>
            </a:r>
            <a:endParaRPr lang="en-US" sz="1250" dirty="0"/>
          </a:p>
          <a:p>
            <a:pPr marL="0" indent="0" algn="l">
              <a:lnSpc>
                <a:spcPct val="133000"/>
              </a:lnSpc>
              <a:buNone/>
            </a:pPr>
            <a:r>
              <a:rPr lang="en-US" sz="1250" dirty="0">
                <a:solidFill>
                  <a:srgbClr val="24292E"/>
                </a:solidFill>
                <a:latin typeface="Consolas" pitchFamily="34" charset="0"/>
                <a:ea typeface="Consolas" pitchFamily="34" charset="-122"/>
                <a:cs typeface="Consolas" pitchFamily="34" charset="-120"/>
              </a:rPr>
              <a:t>)</a:t>
            </a:r>
            <a:endParaRPr lang="en-US" sz="1250" dirty="0"/>
          </a:p>
        </p:txBody>
      </p:sp>
      <p:sp>
        <p:nvSpPr>
          <p:cNvPr id="19" name="Text 17"/>
          <p:cNvSpPr/>
          <p:nvPr/>
        </p:nvSpPr>
        <p:spPr>
          <a:xfrm>
            <a:off x="6297653" y="5713016"/>
            <a:ext cx="5238917" cy="504627"/>
          </a:xfrm>
          <a:prstGeom prst="rect">
            <a:avLst/>
          </a:prstGeom>
          <a:noFill/>
          <a:ln/>
        </p:spPr>
        <p:txBody>
          <a:bodyPr wrap="square" lIns="0" tIns="0" rIns="0" bIns="0" rtlCol="0" anchor="t">
            <a:normAutofit/>
          </a:bodyPr>
          <a:lstStyle/>
          <a:p>
            <a:pPr marL="0" indent="0" algn="l">
              <a:lnSpc>
                <a:spcPct val="131000"/>
              </a:lnSpc>
              <a:buNone/>
            </a:pPr>
            <a:r>
              <a:rPr lang="en-US" sz="1250" dirty="0">
                <a:solidFill>
                  <a:srgbClr val="000000"/>
                </a:solidFill>
                <a:latin typeface="Inter" pitchFamily="34" charset="0"/>
                <a:ea typeface="Inter" pitchFamily="34" charset="-122"/>
                <a:cs typeface="Inter" pitchFamily="34" charset="-120"/>
              </a:rPr>
              <a:t>The response text is checked for errors and rendered in the chat window by Streamlit.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625773"/>
            <a:ext cx="894335" cy="239415"/>
          </a:xfrm>
          <a:prstGeom prst="roundRect">
            <a:avLst>
              <a:gd name="adj" fmla="val 22123"/>
            </a:avLst>
          </a:prstGeom>
          <a:solidFill>
            <a:srgbClr val="D9DFF2"/>
          </a:solidFill>
          <a:ln/>
        </p:spPr>
      </p:sp>
      <p:sp>
        <p:nvSpPr>
          <p:cNvPr id="3" name="Text 1"/>
          <p:cNvSpPr/>
          <p:nvPr/>
        </p:nvSpPr>
        <p:spPr>
          <a:xfrm>
            <a:off x="756028" y="673001"/>
            <a:ext cx="1314814" cy="144959"/>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Inter" pitchFamily="34" charset="0"/>
                <a:ea typeface="Inter" pitchFamily="34" charset="-122"/>
                <a:cs typeface="Inter" pitchFamily="34" charset="-120"/>
              </a:rPr>
              <a:t>CHAPTER 8</a:t>
            </a:r>
            <a:endParaRPr lang="en-US" sz="950" dirty="0"/>
          </a:p>
        </p:txBody>
      </p:sp>
      <p:sp>
        <p:nvSpPr>
          <p:cNvPr id="4" name="Text 2"/>
          <p:cNvSpPr/>
          <p:nvPr/>
        </p:nvSpPr>
        <p:spPr>
          <a:xfrm>
            <a:off x="661475" y="925215"/>
            <a:ext cx="10868745" cy="492621"/>
          </a:xfrm>
          <a:prstGeom prst="rect">
            <a:avLst/>
          </a:prstGeom>
          <a:noFill/>
          <a:ln/>
        </p:spPr>
        <p:txBody>
          <a:bodyPr wrap="none" lIns="0" tIns="0" rIns="0" bIns="0" rtlCol="0" anchor="t"/>
          <a:lstStyle/>
          <a:p>
            <a:pPr marL="0" indent="0" algn="l">
              <a:lnSpc>
                <a:spcPct val="104000"/>
              </a:lnSpc>
              <a:buNone/>
            </a:pPr>
            <a:r>
              <a:rPr lang="en-US" sz="3100" b="1" dirty="0">
                <a:solidFill>
                  <a:srgbClr val="000000"/>
                </a:solidFill>
                <a:latin typeface="Inter Bold" pitchFamily="34" charset="0"/>
                <a:ea typeface="Inter Bold" pitchFamily="34" charset="-122"/>
                <a:cs typeface="Inter Bold" pitchFamily="34" charset="-120"/>
              </a:rPr>
              <a:t>User Interface &amp; Application Screenshots</a:t>
            </a:r>
            <a:endParaRPr lang="en-US" sz="3100" dirty="0"/>
          </a:p>
        </p:txBody>
      </p:sp>
      <p:sp>
        <p:nvSpPr>
          <p:cNvPr id="5" name="Text 3"/>
          <p:cNvSpPr/>
          <p:nvPr/>
        </p:nvSpPr>
        <p:spPr>
          <a:xfrm>
            <a:off x="661475" y="1643162"/>
            <a:ext cx="10868745"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following screens represent the complete user journey through the application — from landing on the home screen to receiving AI-generated results.</a:t>
            </a:r>
            <a:endParaRPr lang="en-US" sz="1200" dirty="0"/>
          </a:p>
        </p:txBody>
      </p:sp>
      <p:sp>
        <p:nvSpPr>
          <p:cNvPr id="7" name="Text 4"/>
          <p:cNvSpPr/>
          <p:nvPr/>
        </p:nvSpPr>
        <p:spPr>
          <a:xfrm>
            <a:off x="661475" y="3638848"/>
            <a:ext cx="2576349"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Home / Main Screen</a:t>
            </a:r>
            <a:endParaRPr lang="en-US" sz="1550" dirty="0"/>
          </a:p>
        </p:txBody>
      </p:sp>
      <p:sp>
        <p:nvSpPr>
          <p:cNvPr id="8" name="Text 5"/>
          <p:cNvSpPr/>
          <p:nvPr/>
        </p:nvSpPr>
        <p:spPr>
          <a:xfrm>
            <a:off x="661475" y="3975199"/>
            <a:ext cx="2576349" cy="1231305"/>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AI Study Assistant home page with the API key field, answer-style selector, Clear chat button and the chat input box.</a:t>
            </a:r>
            <a:endParaRPr lang="en-US" sz="1200" dirty="0"/>
          </a:p>
        </p:txBody>
      </p:sp>
      <p:sp>
        <p:nvSpPr>
          <p:cNvPr id="10" name="Text 6"/>
          <p:cNvSpPr/>
          <p:nvPr/>
        </p:nvSpPr>
        <p:spPr>
          <a:xfrm>
            <a:off x="3425541" y="3638848"/>
            <a:ext cx="2576448"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Input / Prompt Screen</a:t>
            </a:r>
            <a:endParaRPr lang="en-US" sz="1550" dirty="0"/>
          </a:p>
        </p:txBody>
      </p:sp>
      <p:sp>
        <p:nvSpPr>
          <p:cNvPr id="11" name="Text 7"/>
          <p:cNvSpPr/>
          <p:nvPr/>
        </p:nvSpPr>
        <p:spPr>
          <a:xfrm>
            <a:off x="3425541" y="3975199"/>
            <a:ext cx="2576448" cy="985044"/>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student types a study question, such as 'What is machine learning?'. Empty or over-long input is handled before the AI is called.</a:t>
            </a:r>
            <a:endParaRPr lang="en-US" sz="1200" dirty="0"/>
          </a:p>
        </p:txBody>
      </p:sp>
      <p:sp>
        <p:nvSpPr>
          <p:cNvPr id="13" name="Text 8"/>
          <p:cNvSpPr/>
          <p:nvPr/>
        </p:nvSpPr>
        <p:spPr>
          <a:xfrm>
            <a:off x="6189706" y="3638848"/>
            <a:ext cx="2576349"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Exam-Style AI Answer</a:t>
            </a:r>
            <a:endParaRPr lang="en-US" sz="1550" dirty="0"/>
          </a:p>
        </p:txBody>
      </p:sp>
      <p:sp>
        <p:nvSpPr>
          <p:cNvPr id="14" name="Text 9"/>
          <p:cNvSpPr/>
          <p:nvPr/>
        </p:nvSpPr>
        <p:spPr>
          <a:xfrm>
            <a:off x="6189706" y="3975199"/>
            <a:ext cx="2576349" cy="1231305"/>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With the Exam-oriented style, Gemini generates a definition followed by key points, as expected in a semester exam.</a:t>
            </a:r>
            <a:endParaRPr lang="en-US" sz="1200" dirty="0"/>
          </a:p>
        </p:txBody>
      </p:sp>
      <p:sp>
        <p:nvSpPr>
          <p:cNvPr id="16" name="Text 10"/>
          <p:cNvSpPr/>
          <p:nvPr/>
        </p:nvSpPr>
        <p:spPr>
          <a:xfrm>
            <a:off x="8953772" y="3638848"/>
            <a:ext cx="2576448"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Simple-Style AI Answer</a:t>
            </a:r>
            <a:endParaRPr lang="en-US" sz="1550" dirty="0"/>
          </a:p>
        </p:txBody>
      </p:sp>
      <p:sp>
        <p:nvSpPr>
          <p:cNvPr id="17" name="Text 11"/>
          <p:cNvSpPr/>
          <p:nvPr/>
        </p:nvSpPr>
        <p:spPr>
          <a:xfrm>
            <a:off x="8953772" y="3975199"/>
            <a:ext cx="2576448" cy="985044"/>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With the Simple style, the same assistant gives a short, beginner-friendly list of Python topics with easy explanations.</a:t>
            </a:r>
            <a:endParaRPr lang="en-US" sz="1200" dirty="0"/>
          </a:p>
        </p:txBody>
      </p:sp>
      <p:pic>
        <p:nvPicPr>
          <p:cNvPr id="18" name="Screenshot s1" descr="s1.png"/>
          <p:cNvPicPr>
            <a:picLocks noChangeAspect="1"/>
          </p:cNvPicPr>
          <p:nvPr/>
        </p:nvPicPr>
        <p:blipFill>
          <a:blip r:embed="rId8"/>
          <a:stretch>
            <a:fillRect/>
          </a:stretch>
        </p:blipFill>
        <p:spPr>
          <a:xfrm>
            <a:off x="661475" y="2304653"/>
            <a:ext cx="2578608" cy="1270502"/>
          </a:xfrm>
          <a:prstGeom prst="rect">
            <a:avLst/>
          </a:prstGeom>
          <a:ln w="9525">
            <a:solidFill>
              <a:srgbClr val="BFC5D6"/>
            </a:solidFill>
          </a:ln>
        </p:spPr>
      </p:pic>
      <p:pic>
        <p:nvPicPr>
          <p:cNvPr id="19" name="Screenshot s2" descr="s2.png"/>
          <p:cNvPicPr>
            <a:picLocks noChangeAspect="1"/>
          </p:cNvPicPr>
          <p:nvPr/>
        </p:nvPicPr>
        <p:blipFill>
          <a:blip r:embed="rId9"/>
          <a:stretch>
            <a:fillRect/>
          </a:stretch>
        </p:blipFill>
        <p:spPr>
          <a:xfrm>
            <a:off x="3425541" y="2304653"/>
            <a:ext cx="2578608" cy="1270502"/>
          </a:xfrm>
          <a:prstGeom prst="rect">
            <a:avLst/>
          </a:prstGeom>
          <a:ln w="9525">
            <a:solidFill>
              <a:srgbClr val="BFC5D6"/>
            </a:solidFill>
          </a:ln>
        </p:spPr>
      </p:pic>
      <p:pic>
        <p:nvPicPr>
          <p:cNvPr id="20" name="Screenshot s3" descr="s3.png"/>
          <p:cNvPicPr>
            <a:picLocks noChangeAspect="1"/>
          </p:cNvPicPr>
          <p:nvPr/>
        </p:nvPicPr>
        <p:blipFill>
          <a:blip r:embed="rId10"/>
          <a:stretch>
            <a:fillRect/>
          </a:stretch>
        </p:blipFill>
        <p:spPr>
          <a:xfrm>
            <a:off x="6189706" y="2304653"/>
            <a:ext cx="2578608" cy="1270502"/>
          </a:xfrm>
          <a:prstGeom prst="rect">
            <a:avLst/>
          </a:prstGeom>
          <a:ln w="9525">
            <a:solidFill>
              <a:srgbClr val="BFC5D6"/>
            </a:solidFill>
          </a:ln>
        </p:spPr>
      </p:pic>
      <p:pic>
        <p:nvPicPr>
          <p:cNvPr id="21" name="Screenshot s4" descr="s4.png"/>
          <p:cNvPicPr>
            <a:picLocks noChangeAspect="1"/>
          </p:cNvPicPr>
          <p:nvPr/>
        </p:nvPicPr>
        <p:blipFill>
          <a:blip r:embed="rId11"/>
          <a:stretch>
            <a:fillRect/>
          </a:stretch>
        </p:blipFill>
        <p:spPr>
          <a:xfrm>
            <a:off x="8953772" y="2304653"/>
            <a:ext cx="2578608" cy="1270502"/>
          </a:xfrm>
          <a:prstGeom prst="rect">
            <a:avLst/>
          </a:prstGeom>
          <a:ln w="9525">
            <a:solidFill>
              <a:srgbClr val="BFC5D6"/>
            </a:solid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75" y="496987"/>
            <a:ext cx="894534" cy="239415"/>
          </a:xfrm>
          <a:prstGeom prst="roundRect">
            <a:avLst>
              <a:gd name="adj" fmla="val 22123"/>
            </a:avLst>
          </a:prstGeom>
          <a:solidFill>
            <a:srgbClr val="D9DFF2"/>
          </a:solidFill>
          <a:ln/>
        </p:spPr>
      </p:sp>
      <p:sp>
        <p:nvSpPr>
          <p:cNvPr id="3" name="Text 1"/>
          <p:cNvSpPr/>
          <p:nvPr/>
        </p:nvSpPr>
        <p:spPr>
          <a:xfrm>
            <a:off x="756028" y="544215"/>
            <a:ext cx="1315012" cy="144959"/>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Inter" pitchFamily="34" charset="0"/>
                <a:ea typeface="Inter" pitchFamily="34" charset="-122"/>
                <a:cs typeface="Inter" pitchFamily="34" charset="-120"/>
              </a:rPr>
              <a:t>CHAPTER 9</a:t>
            </a:r>
            <a:endParaRPr lang="en-US" sz="950" dirty="0"/>
          </a:p>
        </p:txBody>
      </p:sp>
      <p:sp>
        <p:nvSpPr>
          <p:cNvPr id="4" name="Text 2"/>
          <p:cNvSpPr/>
          <p:nvPr/>
        </p:nvSpPr>
        <p:spPr>
          <a:xfrm>
            <a:off x="661475" y="796429"/>
            <a:ext cx="10868745" cy="492621"/>
          </a:xfrm>
          <a:prstGeom prst="rect">
            <a:avLst/>
          </a:prstGeom>
          <a:noFill/>
          <a:ln/>
        </p:spPr>
        <p:txBody>
          <a:bodyPr wrap="none" lIns="0" tIns="0" rIns="0" bIns="0" rtlCol="0" anchor="t"/>
          <a:lstStyle/>
          <a:p>
            <a:pPr marL="0" indent="0" algn="l">
              <a:lnSpc>
                <a:spcPct val="104000"/>
              </a:lnSpc>
              <a:buNone/>
            </a:pPr>
            <a:r>
              <a:rPr lang="en-US" sz="3100" b="1" dirty="0">
                <a:solidFill>
                  <a:srgbClr val="000000"/>
                </a:solidFill>
                <a:latin typeface="Inter Bold" pitchFamily="34" charset="0"/>
                <a:ea typeface="Inter Bold" pitchFamily="34" charset="-122"/>
                <a:cs typeface="Inter Bold" pitchFamily="34" charset="-120"/>
              </a:rPr>
              <a:t>Challenges &amp; Limitations</a:t>
            </a:r>
            <a:endParaRPr lang="en-US" sz="3100" dirty="0"/>
          </a:p>
        </p:txBody>
      </p:sp>
      <p:sp>
        <p:nvSpPr>
          <p:cNvPr id="5" name="Text 3"/>
          <p:cNvSpPr/>
          <p:nvPr/>
        </p:nvSpPr>
        <p:spPr>
          <a:xfrm>
            <a:off x="661475" y="1664593"/>
            <a:ext cx="5242092"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Technical Challenges Faced</a:t>
            </a:r>
            <a:endParaRPr lang="en-US" sz="155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509" y="2084685"/>
            <a:ext cx="236432" cy="236438"/>
          </a:xfrm>
          <a:prstGeom prst="rect">
            <a:avLst/>
          </a:prstGeom>
        </p:spPr>
      </p:pic>
      <p:sp>
        <p:nvSpPr>
          <p:cNvPr id="7" name="Text 4"/>
          <p:cNvSpPr/>
          <p:nvPr/>
        </p:nvSpPr>
        <p:spPr>
          <a:xfrm>
            <a:off x="1173629" y="2079823"/>
            <a:ext cx="4729937"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Model Selection</a:t>
            </a:r>
            <a:endParaRPr lang="en-US" sz="1550" dirty="0"/>
          </a:p>
        </p:txBody>
      </p:sp>
      <p:sp>
        <p:nvSpPr>
          <p:cNvPr id="8" name="Text 5"/>
          <p:cNvSpPr/>
          <p:nvPr/>
        </p:nvSpPr>
        <p:spPr>
          <a:xfrm>
            <a:off x="1173629" y="2476302"/>
            <a:ext cx="4729937" cy="492522"/>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Evaluating and selecting the right GenAI model required testing multiple Gemini model versions for output quality, speed and availability.</a:t>
            </a:r>
            <a:endParaRPr lang="en-US" sz="12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509" y="3274120"/>
            <a:ext cx="236432" cy="236438"/>
          </a:xfrm>
          <a:prstGeom prst="rect">
            <a:avLst/>
          </a:prstGeom>
        </p:spPr>
      </p:pic>
      <p:sp>
        <p:nvSpPr>
          <p:cNvPr id="10" name="Text 6"/>
          <p:cNvSpPr/>
          <p:nvPr/>
        </p:nvSpPr>
        <p:spPr>
          <a:xfrm>
            <a:off x="1173629" y="3269258"/>
            <a:ext cx="4729937"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Prompt Engineering</a:t>
            </a:r>
            <a:endParaRPr lang="en-US" sz="1550" dirty="0"/>
          </a:p>
        </p:txBody>
      </p:sp>
      <p:sp>
        <p:nvSpPr>
          <p:cNvPr id="11" name="Text 7"/>
          <p:cNvSpPr/>
          <p:nvPr/>
        </p:nvSpPr>
        <p:spPr>
          <a:xfrm>
            <a:off x="1173629" y="3665736"/>
            <a:ext cx="4729937" cy="738783"/>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Crafting reliable prompts that consistently produce accurate, well-formatted outputs required iterative refinement and extensive testing.</a:t>
            </a:r>
            <a:endParaRPr lang="en-US" sz="12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0509" y="4709815"/>
            <a:ext cx="236432" cy="236438"/>
          </a:xfrm>
          <a:prstGeom prst="rect">
            <a:avLst/>
          </a:prstGeom>
        </p:spPr>
      </p:pic>
      <p:sp>
        <p:nvSpPr>
          <p:cNvPr id="13" name="Text 8"/>
          <p:cNvSpPr/>
          <p:nvPr/>
        </p:nvSpPr>
        <p:spPr>
          <a:xfrm>
            <a:off x="1173629" y="4704953"/>
            <a:ext cx="4729937"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Unexpected AI Outputs</a:t>
            </a:r>
            <a:endParaRPr lang="en-US" sz="1550" dirty="0"/>
          </a:p>
        </p:txBody>
      </p:sp>
      <p:sp>
        <p:nvSpPr>
          <p:cNvPr id="14" name="Text 9"/>
          <p:cNvSpPr/>
          <p:nvPr/>
        </p:nvSpPr>
        <p:spPr>
          <a:xfrm>
            <a:off x="1173629" y="5101431"/>
            <a:ext cx="4729937" cy="738783"/>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model occasionally produced incomplete or off-topic responses. These were handled via output validation, retries, and fallback messages.</a:t>
            </a:r>
            <a:endParaRPr lang="en-US" sz="1200" dirty="0"/>
          </a:p>
        </p:txBody>
      </p:sp>
      <p:sp>
        <p:nvSpPr>
          <p:cNvPr id="15" name="Text 10"/>
          <p:cNvSpPr/>
          <p:nvPr/>
        </p:nvSpPr>
        <p:spPr>
          <a:xfrm>
            <a:off x="6294478" y="1664593"/>
            <a:ext cx="5242092"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Current Limitations</a:t>
            </a:r>
            <a:endParaRPr lang="en-US" sz="1550" dirty="0"/>
          </a:p>
        </p:txBody>
      </p:sp>
      <p:sp>
        <p:nvSpPr>
          <p:cNvPr id="16" name="Shape 11"/>
          <p:cNvSpPr/>
          <p:nvPr/>
        </p:nvSpPr>
        <p:spPr>
          <a:xfrm>
            <a:off x="6294478" y="2079823"/>
            <a:ext cx="2545889" cy="2473523"/>
          </a:xfrm>
          <a:prstGeom prst="roundRect">
            <a:avLst>
              <a:gd name="adj" fmla="val 2677"/>
            </a:avLst>
          </a:prstGeom>
          <a:solidFill>
            <a:srgbClr val="FFFFFF"/>
          </a:solidFill>
          <a:ln w="19050">
            <a:solidFill>
              <a:srgbClr val="BFC5D8"/>
            </a:solidFill>
            <a:prstDash val="solid"/>
          </a:ln>
        </p:spPr>
      </p:sp>
      <p:sp>
        <p:nvSpPr>
          <p:cNvPr id="17" name="Text 12"/>
          <p:cNvSpPr/>
          <p:nvPr/>
        </p:nvSpPr>
        <p:spPr>
          <a:xfrm>
            <a:off x="6471083" y="2256433"/>
            <a:ext cx="2192680"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API Dependency</a:t>
            </a:r>
            <a:endParaRPr lang="en-US" sz="1550" dirty="0"/>
          </a:p>
        </p:txBody>
      </p:sp>
      <p:sp>
        <p:nvSpPr>
          <p:cNvPr id="18" name="Text 13"/>
          <p:cNvSpPr/>
          <p:nvPr/>
        </p:nvSpPr>
        <p:spPr>
          <a:xfrm>
            <a:off x="6471083" y="2652911"/>
            <a:ext cx="2192680" cy="1231305"/>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The application requires continuous access to an external API. Downtime or rate-limiting directly impacts availability.</a:t>
            </a:r>
            <a:endParaRPr lang="en-US" sz="1200" dirty="0"/>
          </a:p>
        </p:txBody>
      </p:sp>
      <p:sp>
        <p:nvSpPr>
          <p:cNvPr id="19" name="Shape 14"/>
          <p:cNvSpPr/>
          <p:nvPr/>
        </p:nvSpPr>
        <p:spPr>
          <a:xfrm>
            <a:off x="8990581" y="2079823"/>
            <a:ext cx="2545989" cy="2473523"/>
          </a:xfrm>
          <a:prstGeom prst="roundRect">
            <a:avLst>
              <a:gd name="adj" fmla="val 2677"/>
            </a:avLst>
          </a:prstGeom>
          <a:solidFill>
            <a:srgbClr val="FFFFFF"/>
          </a:solidFill>
          <a:ln w="19050">
            <a:solidFill>
              <a:srgbClr val="BFC5D8"/>
            </a:solidFill>
            <a:prstDash val="solid"/>
          </a:ln>
        </p:spPr>
      </p:sp>
      <p:sp>
        <p:nvSpPr>
          <p:cNvPr id="20" name="Text 15"/>
          <p:cNvSpPr/>
          <p:nvPr/>
        </p:nvSpPr>
        <p:spPr>
          <a:xfrm>
            <a:off x="9167186" y="2256433"/>
            <a:ext cx="2192779" cy="492522"/>
          </a:xfrm>
          <a:prstGeom prst="rect">
            <a:avLst/>
          </a:prstGeom>
          <a:noFill/>
          <a:ln/>
        </p:spPr>
        <p:txBody>
          <a:bodyPr wrap="square" lIns="0" tIns="0" rIns="0" bIns="0" rtlCol="0" anchor="t">
            <a:normAutofit/>
          </a:bodyPr>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Token &amp; Cost Constraints</a:t>
            </a:r>
            <a:endParaRPr lang="en-US" sz="1550" dirty="0"/>
          </a:p>
        </p:txBody>
      </p:sp>
      <p:sp>
        <p:nvSpPr>
          <p:cNvPr id="21" name="Text 16"/>
          <p:cNvSpPr/>
          <p:nvPr/>
        </p:nvSpPr>
        <p:spPr>
          <a:xfrm>
            <a:off x="9167186" y="2899172"/>
            <a:ext cx="2192779" cy="1477566"/>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Token limits restrict the length of input and output. High API usage incurs cost, making large-scale deployment expensive without optimisation.</a:t>
            </a:r>
            <a:endParaRPr lang="en-US" sz="1200" dirty="0"/>
          </a:p>
        </p:txBody>
      </p:sp>
      <p:sp>
        <p:nvSpPr>
          <p:cNvPr id="22" name="Shape 17"/>
          <p:cNvSpPr/>
          <p:nvPr/>
        </p:nvSpPr>
        <p:spPr>
          <a:xfrm>
            <a:off x="6294478" y="4703564"/>
            <a:ext cx="5242092" cy="1488480"/>
          </a:xfrm>
          <a:prstGeom prst="roundRect">
            <a:avLst>
              <a:gd name="adj" fmla="val 4448"/>
            </a:avLst>
          </a:prstGeom>
          <a:solidFill>
            <a:srgbClr val="FFFFFF"/>
          </a:solidFill>
          <a:ln w="19050">
            <a:solidFill>
              <a:srgbClr val="BFC5D8"/>
            </a:solidFill>
            <a:prstDash val="solid"/>
          </a:ln>
        </p:spPr>
      </p:sp>
      <p:sp>
        <p:nvSpPr>
          <p:cNvPr id="23" name="Text 18"/>
          <p:cNvSpPr/>
          <p:nvPr/>
        </p:nvSpPr>
        <p:spPr>
          <a:xfrm>
            <a:off x="6471083" y="4880173"/>
            <a:ext cx="4888882" cy="246261"/>
          </a:xfrm>
          <a:prstGeom prst="rect">
            <a:avLst/>
          </a:prstGeom>
          <a:noFill/>
          <a:ln/>
        </p:spPr>
        <p:txBody>
          <a:bodyPr wrap="none" lIns="0" tIns="0" rIns="0" bIns="0" rtlCol="0" anchor="t"/>
          <a:lstStyle/>
          <a:p>
            <a:pPr marL="0" indent="0" algn="l">
              <a:lnSpc>
                <a:spcPct val="104000"/>
              </a:lnSpc>
              <a:buNone/>
            </a:pPr>
            <a:r>
              <a:rPr lang="en-US" sz="1550" b="1" dirty="0">
                <a:solidFill>
                  <a:srgbClr val="000000"/>
                </a:solidFill>
                <a:latin typeface="Inter Bold" pitchFamily="34" charset="0"/>
                <a:ea typeface="Inter Bold" pitchFamily="34" charset="-122"/>
                <a:cs typeface="Inter Bold" pitchFamily="34" charset="-120"/>
              </a:rPr>
              <a:t>Security &amp; Privacy</a:t>
            </a:r>
            <a:endParaRPr lang="en-US" sz="1550" dirty="0"/>
          </a:p>
        </p:txBody>
      </p:sp>
      <p:sp>
        <p:nvSpPr>
          <p:cNvPr id="24" name="Text 19"/>
          <p:cNvSpPr/>
          <p:nvPr/>
        </p:nvSpPr>
        <p:spPr>
          <a:xfrm>
            <a:off x="6471083" y="5276652"/>
            <a:ext cx="4888882" cy="738783"/>
          </a:xfrm>
          <a:prstGeom prst="rect">
            <a:avLst/>
          </a:prstGeom>
          <a:noFill/>
          <a:ln/>
        </p:spPr>
        <p:txBody>
          <a:bodyPr wrap="square" lIns="0" tIns="0" rIns="0" bIns="0" rtlCol="0" anchor="t">
            <a:normAutofit/>
          </a:bodyPr>
          <a:lstStyle/>
          <a:p>
            <a:pPr marL="0" indent="0" algn="l">
              <a:lnSpc>
                <a:spcPct val="130000"/>
              </a:lnSpc>
              <a:buNone/>
            </a:pPr>
            <a:r>
              <a:rPr lang="en-US" sz="1200" dirty="0">
                <a:solidFill>
                  <a:srgbClr val="000000"/>
                </a:solidFill>
                <a:latin typeface="Inter" pitchFamily="34" charset="0"/>
                <a:ea typeface="Inter" pitchFamily="34" charset="-122"/>
                <a:cs typeface="Inter" pitchFamily="34" charset="-120"/>
              </a:rPr>
              <a:t>User-provided data is sent to a third-party API. Sensitive inputs must be flagged, and data handling policies must be clearly communicated.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7619809" y="0"/>
            <a:ext cx="4571886" cy="6858000"/>
          </a:xfrm>
          <a:prstGeom prst="rect">
            <a:avLst/>
          </a:prstGeom>
          <a:solidFill>
            <a:srgbClr val="D9DFF2"/>
          </a:solidFill>
          <a:ln/>
        </p:spPr>
      </p:sp>
      <p:pic>
        <p:nvPicPr>
          <p:cNvPr id="3" name="Image 0" descr="preencoded.png"/>
          <p:cNvPicPr>
            <a:picLocks noChangeAspect="1"/>
          </p:cNvPicPr>
          <p:nvPr/>
        </p:nvPicPr>
        <p:blipFill>
          <a:blip r:embed="rId3"/>
          <a:stretch>
            <a:fillRect/>
          </a:stretch>
        </p:blipFill>
        <p:spPr>
          <a:xfrm>
            <a:off x="7702457" y="491232"/>
            <a:ext cx="4406492" cy="5875536"/>
          </a:xfrm>
          <a:prstGeom prst="rect">
            <a:avLst/>
          </a:prstGeom>
        </p:spPr>
      </p:pic>
      <p:sp>
        <p:nvSpPr>
          <p:cNvPr id="4" name="Shape 1"/>
          <p:cNvSpPr/>
          <p:nvPr/>
        </p:nvSpPr>
        <p:spPr>
          <a:xfrm>
            <a:off x="661475" y="644823"/>
            <a:ext cx="993452" cy="251420"/>
          </a:xfrm>
          <a:prstGeom prst="roundRect">
            <a:avLst>
              <a:gd name="adj" fmla="val 22103"/>
            </a:avLst>
          </a:prstGeom>
          <a:solidFill>
            <a:srgbClr val="D9DFF2"/>
          </a:solidFill>
          <a:ln/>
        </p:spPr>
      </p:sp>
      <p:sp>
        <p:nvSpPr>
          <p:cNvPr id="5" name="Text 2"/>
          <p:cNvSpPr/>
          <p:nvPr/>
        </p:nvSpPr>
        <p:spPr>
          <a:xfrm>
            <a:off x="760691" y="694432"/>
            <a:ext cx="1404605"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Inter" pitchFamily="34" charset="0"/>
                <a:ea typeface="Inter" pitchFamily="34" charset="-122"/>
                <a:cs typeface="Inter" pitchFamily="34" charset="-120"/>
              </a:rPr>
              <a:t>CHAPTER 10</a:t>
            </a:r>
            <a:endParaRPr lang="en-US" sz="1000" dirty="0"/>
          </a:p>
        </p:txBody>
      </p:sp>
      <p:sp>
        <p:nvSpPr>
          <p:cNvPr id="6" name="Text 3"/>
          <p:cNvSpPr/>
          <p:nvPr/>
        </p:nvSpPr>
        <p:spPr>
          <a:xfrm>
            <a:off x="661475" y="962323"/>
            <a:ext cx="6296860"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Conclusion</a:t>
            </a:r>
            <a:endParaRPr lang="en-US" sz="3250" dirty="0"/>
          </a:p>
        </p:txBody>
      </p:sp>
      <p:sp>
        <p:nvSpPr>
          <p:cNvPr id="7" name="Text 4"/>
          <p:cNvSpPr/>
          <p:nvPr/>
        </p:nvSpPr>
        <p:spPr>
          <a:xfrm>
            <a:off x="661475" y="1727101"/>
            <a:ext cx="6296860" cy="1323082"/>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This project successfully demonstrates the development of a GenAI-powered application that addresses the difficulty students face in finding clear study explanations. By integrating Google Gemini, the system automates question answering, replacing slow manual searching with an intelligent, responsive solution.</a:t>
            </a:r>
            <a:endParaRPr lang="en-US" sz="1300" dirty="0"/>
          </a:p>
        </p:txBody>
      </p:sp>
      <p:sp>
        <p:nvSpPr>
          <p:cNvPr id="8" name="Shape 5"/>
          <p:cNvSpPr/>
          <p:nvPr/>
        </p:nvSpPr>
        <p:spPr>
          <a:xfrm>
            <a:off x="661475" y="3236218"/>
            <a:ext cx="6296860" cy="2976959"/>
          </a:xfrm>
          <a:prstGeom prst="roundRect">
            <a:avLst>
              <a:gd name="adj" fmla="val 2333"/>
            </a:avLst>
          </a:prstGeom>
          <a:solidFill>
            <a:srgbClr val="D9DFF2"/>
          </a:solidFill>
          <a:ln w="6350">
            <a:solidFill>
              <a:srgbClr val="BFC5D8"/>
            </a:solidFill>
            <a:prstDash val="solid"/>
          </a:ln>
        </p:spPr>
      </p:sp>
      <p:sp>
        <p:nvSpPr>
          <p:cNvPr id="9" name="Shape 6"/>
          <p:cNvSpPr/>
          <p:nvPr/>
        </p:nvSpPr>
        <p:spPr>
          <a:xfrm>
            <a:off x="667825" y="3242568"/>
            <a:ext cx="3142080" cy="1746746"/>
          </a:xfrm>
          <a:custGeom>
            <a:avLst/>
            <a:gdLst/>
            <a:ahLst/>
            <a:cxnLst/>
            <a:rect l="l" t="t" r="r" b="b"/>
            <a:pathLst>
              <a:path w="3142080" h="1746746">
                <a:moveTo>
                  <a:pt x="57887" y="0"/>
                </a:moveTo>
                <a:lnTo>
                  <a:pt x="3142080" y="0"/>
                </a:lnTo>
                <a:lnTo>
                  <a:pt x="3142080" y="1746746"/>
                </a:lnTo>
                <a:lnTo>
                  <a:pt x="0" y="1746746"/>
                </a:lnTo>
                <a:lnTo>
                  <a:pt x="0" y="57888"/>
                </a:lnTo>
                <a:arcTo wR="57887" hR="57888" stAng="10800000" swAng="5400000"/>
                <a:close/>
              </a:path>
            </a:pathLst>
          </a:custGeom>
          <a:solidFill>
            <a:srgbClr val="D9DFF2"/>
          </a:solidFill>
          <a:ln/>
        </p:spPr>
      </p:sp>
      <p:sp>
        <p:nvSpPr>
          <p:cNvPr id="10" name="Text 7"/>
          <p:cNvSpPr/>
          <p:nvPr/>
        </p:nvSpPr>
        <p:spPr>
          <a:xfrm>
            <a:off x="833119" y="3407866"/>
            <a:ext cx="281149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What Was Built</a:t>
            </a:r>
            <a:endParaRPr lang="en-US" sz="1600" dirty="0"/>
          </a:p>
        </p:txBody>
      </p:sp>
      <p:sp>
        <p:nvSpPr>
          <p:cNvPr id="11" name="Text 8"/>
          <p:cNvSpPr/>
          <p:nvPr/>
        </p:nvSpPr>
        <p:spPr>
          <a:xfrm>
            <a:off x="833119" y="3765550"/>
            <a:ext cx="2811491"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A functional web chatbot featuring AI question answering, three answer styles, and chat memory, integrated with Google Gemini.</a:t>
            </a:r>
            <a:endParaRPr lang="en-US" sz="1300" dirty="0"/>
          </a:p>
        </p:txBody>
      </p:sp>
      <p:sp>
        <p:nvSpPr>
          <p:cNvPr id="12" name="Shape 9"/>
          <p:cNvSpPr/>
          <p:nvPr/>
        </p:nvSpPr>
        <p:spPr>
          <a:xfrm>
            <a:off x="3809905" y="3242568"/>
            <a:ext cx="3142080" cy="1746746"/>
          </a:xfrm>
          <a:custGeom>
            <a:avLst/>
            <a:gdLst/>
            <a:ahLst/>
            <a:cxnLst/>
            <a:rect l="l" t="t" r="r" b="b"/>
            <a:pathLst>
              <a:path w="3142080" h="1746746">
                <a:moveTo>
                  <a:pt x="0" y="0"/>
                </a:moveTo>
                <a:lnTo>
                  <a:pt x="3084193" y="0"/>
                </a:lnTo>
                <a:arcTo wR="57887" hR="57888" stAng="16200000" swAng="5400000"/>
                <a:lnTo>
                  <a:pt x="3142080" y="1746746"/>
                </a:lnTo>
                <a:lnTo>
                  <a:pt x="0" y="1746746"/>
                </a:lnTo>
                <a:lnTo>
                  <a:pt x="0" y="0"/>
                </a:lnTo>
                <a:close/>
              </a:path>
            </a:pathLst>
          </a:custGeom>
          <a:solidFill>
            <a:srgbClr val="D9DFF2"/>
          </a:solidFill>
          <a:ln/>
        </p:spPr>
      </p:sp>
      <p:sp>
        <p:nvSpPr>
          <p:cNvPr id="13" name="Shape 10"/>
          <p:cNvSpPr/>
          <p:nvPr/>
        </p:nvSpPr>
        <p:spPr>
          <a:xfrm>
            <a:off x="3809905" y="3242568"/>
            <a:ext cx="19050" cy="1746746"/>
          </a:xfrm>
          <a:prstGeom prst="roundRect">
            <a:avLst>
              <a:gd name="adj" fmla="val 49999"/>
            </a:avLst>
          </a:prstGeom>
          <a:solidFill>
            <a:srgbClr val="BFC5D8"/>
          </a:solidFill>
          <a:ln/>
        </p:spPr>
      </p:sp>
      <p:sp>
        <p:nvSpPr>
          <p:cNvPr id="14" name="Text 11"/>
          <p:cNvSpPr/>
          <p:nvPr/>
        </p:nvSpPr>
        <p:spPr>
          <a:xfrm>
            <a:off x="3975199" y="3407866"/>
            <a:ext cx="281149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Impact &amp; Output</a:t>
            </a:r>
            <a:endParaRPr lang="en-US" sz="1600" dirty="0"/>
          </a:p>
        </p:txBody>
      </p:sp>
      <p:sp>
        <p:nvSpPr>
          <p:cNvPr id="15" name="Text 12"/>
          <p:cNvSpPr/>
          <p:nvPr/>
        </p:nvSpPr>
        <p:spPr>
          <a:xfrm>
            <a:off x="3975199" y="3765550"/>
            <a:ext cx="2811491" cy="1058466"/>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The system produces text answers that are clear, relevant and useful, saving students time and effort compared to prior approaches.</a:t>
            </a:r>
            <a:endParaRPr lang="en-US" sz="1300" dirty="0"/>
          </a:p>
        </p:txBody>
      </p:sp>
      <p:sp>
        <p:nvSpPr>
          <p:cNvPr id="16" name="Shape 13"/>
          <p:cNvSpPr/>
          <p:nvPr/>
        </p:nvSpPr>
        <p:spPr>
          <a:xfrm>
            <a:off x="667825" y="4989314"/>
            <a:ext cx="6284160" cy="1217513"/>
          </a:xfrm>
          <a:custGeom>
            <a:avLst/>
            <a:gdLst/>
            <a:ahLst/>
            <a:cxnLst/>
            <a:rect l="l" t="t" r="r" b="b"/>
            <a:pathLst>
              <a:path w="6284160" h="1217513">
                <a:moveTo>
                  <a:pt x="0" y="0"/>
                </a:moveTo>
                <a:lnTo>
                  <a:pt x="6284160" y="0"/>
                </a:lnTo>
                <a:lnTo>
                  <a:pt x="6284160" y="1159625"/>
                </a:lnTo>
                <a:arcTo wR="57887" hR="57888" stAng="0" swAng="5400000"/>
                <a:lnTo>
                  <a:pt x="57887" y="1217513"/>
                </a:lnTo>
                <a:arcTo wR="57887" hR="57888" stAng="5400000" swAng="5400000"/>
                <a:lnTo>
                  <a:pt x="0" y="0"/>
                </a:lnTo>
                <a:close/>
              </a:path>
            </a:pathLst>
          </a:custGeom>
          <a:solidFill>
            <a:srgbClr val="D9DFF2"/>
          </a:solidFill>
          <a:ln/>
        </p:spPr>
      </p:sp>
      <p:sp>
        <p:nvSpPr>
          <p:cNvPr id="17" name="Shape 14"/>
          <p:cNvSpPr/>
          <p:nvPr/>
        </p:nvSpPr>
        <p:spPr>
          <a:xfrm>
            <a:off x="667825" y="4989314"/>
            <a:ext cx="6284160" cy="19050"/>
          </a:xfrm>
          <a:prstGeom prst="roundRect">
            <a:avLst>
              <a:gd name="adj" fmla="val 49999"/>
            </a:avLst>
          </a:prstGeom>
          <a:solidFill>
            <a:srgbClr val="BFC5D8"/>
          </a:solidFill>
          <a:ln/>
        </p:spPr>
      </p:sp>
      <p:sp>
        <p:nvSpPr>
          <p:cNvPr id="18" name="Text 15"/>
          <p:cNvSpPr/>
          <p:nvPr/>
        </p:nvSpPr>
        <p:spPr>
          <a:xfrm>
            <a:off x="833119" y="5154613"/>
            <a:ext cx="5953571"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Key Learnings</a:t>
            </a:r>
            <a:endParaRPr lang="en-US" sz="1600" dirty="0"/>
          </a:p>
        </p:txBody>
      </p:sp>
      <p:sp>
        <p:nvSpPr>
          <p:cNvPr id="19" name="Text 16"/>
          <p:cNvSpPr/>
          <p:nvPr/>
        </p:nvSpPr>
        <p:spPr>
          <a:xfrm>
            <a:off x="833119" y="5512296"/>
            <a:ext cx="5953571"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This project provided hands-on experience in prompt engineering, API integration, full-stack development, and AI output evaluation.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61475" y="1288752"/>
            <a:ext cx="963886" cy="251420"/>
          </a:xfrm>
          <a:prstGeom prst="roundRect">
            <a:avLst>
              <a:gd name="adj" fmla="val 22103"/>
            </a:avLst>
          </a:prstGeom>
          <a:solidFill>
            <a:srgbClr val="D9DFF2"/>
          </a:solidFill>
          <a:ln/>
        </p:spPr>
      </p:sp>
      <p:sp>
        <p:nvSpPr>
          <p:cNvPr id="3" name="Text 1"/>
          <p:cNvSpPr/>
          <p:nvPr/>
        </p:nvSpPr>
        <p:spPr>
          <a:xfrm>
            <a:off x="760691" y="1338362"/>
            <a:ext cx="1375038" cy="152202"/>
          </a:xfrm>
          <a:prstGeom prst="rect">
            <a:avLst/>
          </a:prstGeom>
          <a:noFill/>
          <a:ln/>
        </p:spPr>
        <p:txBody>
          <a:bodyPr wrap="none" lIns="0" tIns="0" rIns="0" bIns="0" rtlCol="0" anchor="t"/>
          <a:lstStyle/>
          <a:p>
            <a:pPr marL="0" indent="0" algn="l">
              <a:lnSpc>
                <a:spcPct val="96000"/>
              </a:lnSpc>
              <a:buNone/>
            </a:pPr>
            <a:r>
              <a:rPr lang="en-US" sz="1000" dirty="0">
                <a:solidFill>
                  <a:srgbClr val="000000"/>
                </a:solidFill>
                <a:latin typeface="Inter" pitchFamily="34" charset="0"/>
                <a:ea typeface="Inter" pitchFamily="34" charset="-122"/>
                <a:cs typeface="Inter" pitchFamily="34" charset="-120"/>
              </a:rPr>
              <a:t>CHAPTER 11</a:t>
            </a:r>
            <a:endParaRPr lang="en-US" sz="1000" dirty="0"/>
          </a:p>
        </p:txBody>
      </p:sp>
      <p:sp>
        <p:nvSpPr>
          <p:cNvPr id="4" name="Text 2"/>
          <p:cNvSpPr/>
          <p:nvPr/>
        </p:nvSpPr>
        <p:spPr>
          <a:xfrm>
            <a:off x="661475" y="1606252"/>
            <a:ext cx="10868745" cy="516731"/>
          </a:xfrm>
          <a:prstGeom prst="rect">
            <a:avLst/>
          </a:prstGeom>
          <a:noFill/>
          <a:ln/>
        </p:spPr>
        <p:txBody>
          <a:bodyPr wrap="none" lIns="0" tIns="0" rIns="0" bIns="0" rtlCol="0" anchor="t"/>
          <a:lstStyle/>
          <a:p>
            <a:pPr marL="0" indent="0" algn="l">
              <a:lnSpc>
                <a:spcPct val="104000"/>
              </a:lnSpc>
              <a:buNone/>
            </a:pPr>
            <a:r>
              <a:rPr lang="en-US" sz="3250" b="1" dirty="0">
                <a:solidFill>
                  <a:srgbClr val="000000"/>
                </a:solidFill>
                <a:latin typeface="Inter Bold" pitchFamily="34" charset="0"/>
                <a:ea typeface="Inter Bold" pitchFamily="34" charset="-122"/>
                <a:cs typeface="Inter Bold" pitchFamily="34" charset="-120"/>
              </a:rPr>
              <a:t>Future Scope</a:t>
            </a:r>
            <a:endParaRPr lang="en-US" sz="3250" dirty="0"/>
          </a:p>
        </p:txBody>
      </p:sp>
      <p:sp>
        <p:nvSpPr>
          <p:cNvPr id="5" name="Text 3"/>
          <p:cNvSpPr/>
          <p:nvPr/>
        </p:nvSpPr>
        <p:spPr>
          <a:xfrm>
            <a:off x="661475" y="2371030"/>
            <a:ext cx="11478330" cy="264616"/>
          </a:xfrm>
          <a:prstGeom prst="rect">
            <a:avLst/>
          </a:prstGeom>
          <a:noFill/>
          <a:ln/>
        </p:spPr>
        <p:txBody>
          <a:bodyPr wrap="none" lIns="0" tIns="0" rIns="0" bIns="0" rtlCol="0" anchor="t"/>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The current implementation establishes a solid foundation. The following enhancements are planned or recommended for future iterations.</a:t>
            </a:r>
            <a:endParaRPr lang="en-US" sz="13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821682"/>
            <a:ext cx="330688" cy="330696"/>
          </a:xfrm>
          <a:prstGeom prst="rect">
            <a:avLst/>
          </a:prstGeom>
        </p:spPr>
      </p:pic>
      <p:sp>
        <p:nvSpPr>
          <p:cNvPr id="7" name="Text 4"/>
          <p:cNvSpPr/>
          <p:nvPr/>
        </p:nvSpPr>
        <p:spPr>
          <a:xfrm>
            <a:off x="1198830" y="2878534"/>
            <a:ext cx="479363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Multimodal Input Support</a:t>
            </a:r>
            <a:endParaRPr lang="en-US" sz="1600" dirty="0"/>
          </a:p>
        </p:txBody>
      </p:sp>
      <p:sp>
        <p:nvSpPr>
          <p:cNvPr id="8" name="Text 5"/>
          <p:cNvSpPr/>
          <p:nvPr/>
        </p:nvSpPr>
        <p:spPr>
          <a:xfrm>
            <a:off x="1198830" y="3236218"/>
            <a:ext cx="4793634"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Extend the system to accept image, audio, and video inputs using multimodal GenAI models such as GPT-4o or Gemini 1.5 Pro.</a:t>
            </a:r>
            <a:endParaRPr lang="en-US" sz="13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99132" y="2821682"/>
            <a:ext cx="330688" cy="330696"/>
          </a:xfrm>
          <a:prstGeom prst="rect">
            <a:avLst/>
          </a:prstGeom>
        </p:spPr>
      </p:pic>
      <p:sp>
        <p:nvSpPr>
          <p:cNvPr id="10" name="Text 6"/>
          <p:cNvSpPr/>
          <p:nvPr/>
        </p:nvSpPr>
        <p:spPr>
          <a:xfrm>
            <a:off x="6736487" y="2878534"/>
            <a:ext cx="4793733"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Model Fine-Tuning</a:t>
            </a:r>
            <a:endParaRPr lang="en-US" sz="1600" dirty="0"/>
          </a:p>
        </p:txBody>
      </p:sp>
      <p:sp>
        <p:nvSpPr>
          <p:cNvPr id="11" name="Text 7"/>
          <p:cNvSpPr/>
          <p:nvPr/>
        </p:nvSpPr>
        <p:spPr>
          <a:xfrm>
            <a:off x="6736487" y="3236218"/>
            <a:ext cx="4793733"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Fine-tune the base model on domain-specific datasets to improve output accuracy, relevance, and tone for study and exam preparation.</a:t>
            </a:r>
            <a:endParaRPr lang="en-US" sz="13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4360763"/>
            <a:ext cx="330688" cy="330696"/>
          </a:xfrm>
          <a:prstGeom prst="rect">
            <a:avLst/>
          </a:prstGeom>
        </p:spPr>
      </p:pic>
      <p:sp>
        <p:nvSpPr>
          <p:cNvPr id="13" name="Text 8"/>
          <p:cNvSpPr/>
          <p:nvPr/>
        </p:nvSpPr>
        <p:spPr>
          <a:xfrm>
            <a:off x="1198830" y="4417616"/>
            <a:ext cx="4793634"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Multilingual Support</a:t>
            </a:r>
            <a:endParaRPr lang="en-US" sz="1600" dirty="0"/>
          </a:p>
        </p:txBody>
      </p:sp>
      <p:sp>
        <p:nvSpPr>
          <p:cNvPr id="14" name="Text 9"/>
          <p:cNvSpPr/>
          <p:nvPr/>
        </p:nvSpPr>
        <p:spPr>
          <a:xfrm>
            <a:off x="1198830" y="4775299"/>
            <a:ext cx="4793634" cy="529233"/>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Add support for additional Indian and international languages to broaden the application's accessibility and user reach.</a:t>
            </a:r>
            <a:endParaRPr lang="en-US" sz="1300" dirty="0"/>
          </a:p>
        </p:txBody>
      </p:sp>
      <p:pic>
        <p:nvPicPr>
          <p:cNvPr id="1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99132" y="4360763"/>
            <a:ext cx="330688" cy="330696"/>
          </a:xfrm>
          <a:prstGeom prst="rect">
            <a:avLst/>
          </a:prstGeom>
        </p:spPr>
      </p:pic>
      <p:sp>
        <p:nvSpPr>
          <p:cNvPr id="16" name="Text 10"/>
          <p:cNvSpPr/>
          <p:nvPr/>
        </p:nvSpPr>
        <p:spPr>
          <a:xfrm>
            <a:off x="6736487" y="4417616"/>
            <a:ext cx="4793733" cy="258465"/>
          </a:xfrm>
          <a:prstGeom prst="rect">
            <a:avLst/>
          </a:prstGeom>
          <a:noFill/>
          <a:ln/>
        </p:spPr>
        <p:txBody>
          <a:bodyPr wrap="none" lIns="0" tIns="0" rIns="0" bIns="0" rtlCol="0" anchor="t"/>
          <a:lstStyle/>
          <a:p>
            <a:pPr marL="0" indent="0" algn="l">
              <a:lnSpc>
                <a:spcPct val="104000"/>
              </a:lnSpc>
              <a:buNone/>
            </a:pPr>
            <a:r>
              <a:rPr lang="en-US" sz="1600" b="1" dirty="0">
                <a:solidFill>
                  <a:srgbClr val="000000"/>
                </a:solidFill>
                <a:latin typeface="Inter Bold" pitchFamily="34" charset="0"/>
                <a:ea typeface="Inter Bold" pitchFamily="34" charset="-122"/>
                <a:cs typeface="Inter Bold" pitchFamily="34" charset="-120"/>
              </a:rPr>
              <a:t>Production Deployment &amp; Scaling</a:t>
            </a:r>
            <a:endParaRPr lang="en-US" sz="1600" dirty="0"/>
          </a:p>
        </p:txBody>
      </p:sp>
      <p:sp>
        <p:nvSpPr>
          <p:cNvPr id="17" name="Text 11"/>
          <p:cNvSpPr/>
          <p:nvPr/>
        </p:nvSpPr>
        <p:spPr>
          <a:xfrm>
            <a:off x="6736487" y="4775299"/>
            <a:ext cx="4793733" cy="793849"/>
          </a:xfrm>
          <a:prstGeom prst="rect">
            <a:avLst/>
          </a:prstGeom>
          <a:noFill/>
          <a:ln/>
        </p:spPr>
        <p:txBody>
          <a:bodyPr wrap="square" lIns="0" tIns="0" rIns="0" bIns="0" rtlCol="0" anchor="t">
            <a:normAutofit/>
          </a:bodyPr>
          <a:lstStyle/>
          <a:p>
            <a:pPr marL="0" indent="0" algn="l">
              <a:lnSpc>
                <a:spcPct val="133000"/>
              </a:lnSpc>
              <a:buNone/>
            </a:pPr>
            <a:r>
              <a:rPr lang="en-US" sz="1300" dirty="0">
                <a:solidFill>
                  <a:srgbClr val="000000"/>
                </a:solidFill>
                <a:latin typeface="Inter" pitchFamily="34" charset="0"/>
                <a:ea typeface="Inter" pitchFamily="34" charset="-122"/>
                <a:cs typeface="Inter" pitchFamily="34" charset="-120"/>
              </a:rPr>
              <a:t>Deploy on a cloud platform (AWS / GCP / Azure) with proper load balancing, caching, and monitoring for real-world scale use.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61475" y="632222"/>
            <a:ext cx="912889" cy="231676"/>
          </a:xfrm>
          <a:prstGeom prst="roundRect">
            <a:avLst>
              <a:gd name="adj" fmla="val 22113"/>
            </a:avLst>
          </a:prstGeom>
          <a:solidFill>
            <a:srgbClr val="D9DFF2"/>
          </a:solidFill>
          <a:ln/>
        </p:spPr>
      </p:sp>
      <p:sp>
        <p:nvSpPr>
          <p:cNvPr id="3" name="Text 1"/>
          <p:cNvSpPr/>
          <p:nvPr/>
        </p:nvSpPr>
        <p:spPr>
          <a:xfrm>
            <a:off x="752952" y="677962"/>
            <a:ext cx="1339519" cy="140196"/>
          </a:xfrm>
          <a:prstGeom prst="rect">
            <a:avLst/>
          </a:prstGeom>
          <a:noFill/>
          <a:ln/>
        </p:spPr>
        <p:txBody>
          <a:bodyPr wrap="none" lIns="0" tIns="0" rIns="0" bIns="0" rtlCol="0" anchor="t"/>
          <a:lstStyle/>
          <a:p>
            <a:pPr marL="0" indent="0" algn="l">
              <a:lnSpc>
                <a:spcPct val="96000"/>
              </a:lnSpc>
              <a:buNone/>
            </a:pPr>
            <a:r>
              <a:rPr lang="en-US" sz="950" dirty="0">
                <a:solidFill>
                  <a:srgbClr val="000000"/>
                </a:solidFill>
                <a:latin typeface="Inter" pitchFamily="34" charset="0"/>
                <a:ea typeface="Inter" pitchFamily="34" charset="-122"/>
                <a:cs typeface="Inter" pitchFamily="34" charset="-120"/>
              </a:rPr>
              <a:t>CHAPTER 12</a:t>
            </a:r>
            <a:endParaRPr lang="en-US" sz="950" dirty="0"/>
          </a:p>
        </p:txBody>
      </p:sp>
      <p:sp>
        <p:nvSpPr>
          <p:cNvPr id="4" name="Text 2"/>
          <p:cNvSpPr/>
          <p:nvPr/>
        </p:nvSpPr>
        <p:spPr>
          <a:xfrm>
            <a:off x="661475" y="920055"/>
            <a:ext cx="10868745" cy="476448"/>
          </a:xfrm>
          <a:prstGeom prst="rect">
            <a:avLst/>
          </a:prstGeom>
          <a:noFill/>
          <a:ln/>
        </p:spPr>
        <p:txBody>
          <a:bodyPr wrap="none" lIns="0" tIns="0" rIns="0" bIns="0" rtlCol="0" anchor="t"/>
          <a:lstStyle/>
          <a:p>
            <a:pPr marL="0" indent="0" algn="l">
              <a:lnSpc>
                <a:spcPct val="104000"/>
              </a:lnSpc>
              <a:buNone/>
            </a:pPr>
            <a:r>
              <a:rPr lang="en-US" sz="3000" b="1" dirty="0">
                <a:solidFill>
                  <a:srgbClr val="000000"/>
                </a:solidFill>
                <a:latin typeface="Inter Bold" pitchFamily="34" charset="0"/>
                <a:ea typeface="Inter Bold" pitchFamily="34" charset="-122"/>
                <a:cs typeface="Inter Bold" pitchFamily="34" charset="-120"/>
              </a:rPr>
              <a:t>References</a:t>
            </a:r>
            <a:endParaRPr lang="en-US" sz="3000" dirty="0"/>
          </a:p>
        </p:txBody>
      </p:sp>
      <p:sp>
        <p:nvSpPr>
          <p:cNvPr id="5" name="Text 3"/>
          <p:cNvSpPr/>
          <p:nvPr/>
        </p:nvSpPr>
        <p:spPr>
          <a:xfrm>
            <a:off x="661475" y="1607344"/>
            <a:ext cx="11478330" cy="234454"/>
          </a:xfrm>
          <a:prstGeom prst="rect">
            <a:avLst/>
          </a:prstGeom>
          <a:noFill/>
          <a:ln/>
        </p:spPr>
        <p:txBody>
          <a:bodyPr wrap="none" lIns="0" tIns="0" rIns="0" bIns="0" rtlCol="0" anchor="t"/>
          <a:lstStyle/>
          <a:p>
            <a:pPr marL="0" indent="0" algn="l">
              <a:lnSpc>
                <a:spcPct val="128000"/>
              </a:lnSpc>
              <a:buNone/>
            </a:pPr>
            <a:r>
              <a:rPr lang="en-US" sz="1200" dirty="0">
                <a:solidFill>
                  <a:srgbClr val="000000"/>
                </a:solidFill>
                <a:latin typeface="Inter" pitchFamily="34" charset="0"/>
                <a:ea typeface="Inter" pitchFamily="34" charset="-122"/>
                <a:cs typeface="Inter" pitchFamily="34" charset="-120"/>
              </a:rPr>
              <a:t>All sources consulted during the design, development, and evaluation of this project are listed below.</a:t>
            </a:r>
            <a:endParaRPr lang="en-US" sz="1200" dirty="0"/>
          </a:p>
        </p:txBody>
      </p:sp>
      <p:sp>
        <p:nvSpPr>
          <p:cNvPr id="6" name="Text 4"/>
          <p:cNvSpPr/>
          <p:nvPr/>
        </p:nvSpPr>
        <p:spPr>
          <a:xfrm>
            <a:off x="661475" y="2140347"/>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AI Model &amp; API Documentation</a:t>
            </a:r>
            <a:endParaRPr lang="en-US" sz="1500" dirty="0"/>
          </a:p>
        </p:txBody>
      </p:sp>
      <p:sp>
        <p:nvSpPr>
          <p:cNvPr id="7" name="Text 5"/>
          <p:cNvSpPr/>
          <p:nvPr/>
        </p:nvSpPr>
        <p:spPr>
          <a:xfrm>
            <a:off x="661475" y="2519065"/>
            <a:ext cx="5248441" cy="801588"/>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Google Gemini API Official Documentation — https://ai.google.dev/gemini-api/docs</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Google AI Studio (API key and model access) — https://aistudio.google.com</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Google GenAI Python SDK Getting Started — https://ai.google.dev/gemini-api/docs/generate-content/get-started</a:t>
            </a:r>
            <a:endParaRPr lang="en-US" sz="1200" dirty="0"/>
          </a:p>
        </p:txBody>
      </p:sp>
      <p:sp>
        <p:nvSpPr>
          <p:cNvPr id="8" name="Text 6"/>
          <p:cNvSpPr/>
          <p:nvPr/>
        </p:nvSpPr>
        <p:spPr>
          <a:xfrm>
            <a:off x="661475" y="3461147"/>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Research Papers</a:t>
            </a:r>
            <a:endParaRPr lang="en-US" sz="1500" dirty="0"/>
          </a:p>
        </p:txBody>
      </p:sp>
      <p:sp>
        <p:nvSpPr>
          <p:cNvPr id="9" name="Text 7"/>
          <p:cNvSpPr/>
          <p:nvPr/>
        </p:nvSpPr>
        <p:spPr>
          <a:xfrm>
            <a:off x="661475" y="3839865"/>
            <a:ext cx="5248441" cy="518021"/>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A. Vaswani et al., "</a:t>
            </a:r>
            <a:r>
              <a:rPr lang="en-US" sz="1200" i="1" dirty="0">
                <a:solidFill>
                  <a:srgbClr val="000000"/>
                </a:solidFill>
                <a:latin typeface="Inter" pitchFamily="34" charset="0"/>
                <a:ea typeface="Inter" pitchFamily="34" charset="-122"/>
                <a:cs typeface="Inter" pitchFamily="34" charset="-120"/>
              </a:rPr>
              <a:t>Attention Is All You Need</a:t>
            </a:r>
            <a:r>
              <a:rPr lang="en-US" sz="1200" dirty="0">
                <a:solidFill>
                  <a:srgbClr val="000000"/>
                </a:solidFill>
                <a:latin typeface="Inter" pitchFamily="34" charset="0"/>
                <a:ea typeface="Inter" pitchFamily="34" charset="-122"/>
                <a:cs typeface="Inter" pitchFamily="34" charset="-120"/>
              </a:rPr>
              <a:t>", NeurIPS, 2017.</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T. Brown et al., "</a:t>
            </a:r>
            <a:r>
              <a:rPr lang="en-US" sz="1200" i="1" dirty="0">
                <a:solidFill>
                  <a:srgbClr val="000000"/>
                </a:solidFill>
                <a:latin typeface="Inter" pitchFamily="34" charset="0"/>
                <a:ea typeface="Inter" pitchFamily="34" charset="-122"/>
                <a:cs typeface="Inter" pitchFamily="34" charset="-120"/>
              </a:rPr>
              <a:t>Language Models are Few-Shot Learners</a:t>
            </a:r>
            <a:r>
              <a:rPr lang="en-US" sz="1200" dirty="0">
                <a:solidFill>
                  <a:srgbClr val="000000"/>
                </a:solidFill>
                <a:latin typeface="Inter" pitchFamily="34" charset="0"/>
                <a:ea typeface="Inter" pitchFamily="34" charset="-122"/>
                <a:cs typeface="Inter" pitchFamily="34" charset="-120"/>
              </a:rPr>
              <a:t>", NeurIPS, 2020.</a:t>
            </a:r>
            <a:endParaRPr lang="en-US" sz="1200" dirty="0"/>
          </a:p>
        </p:txBody>
      </p:sp>
      <p:sp>
        <p:nvSpPr>
          <p:cNvPr id="10" name="Text 8"/>
          <p:cNvSpPr/>
          <p:nvPr/>
        </p:nvSpPr>
        <p:spPr>
          <a:xfrm>
            <a:off x="661475" y="4498380"/>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Datasets &amp; External Resources</a:t>
            </a:r>
            <a:endParaRPr lang="en-US" sz="1500" dirty="0"/>
          </a:p>
        </p:txBody>
      </p:sp>
      <p:sp>
        <p:nvSpPr>
          <p:cNvPr id="11" name="Text 9"/>
          <p:cNvSpPr/>
          <p:nvPr/>
        </p:nvSpPr>
        <p:spPr>
          <a:xfrm>
            <a:off x="661475" y="4877098"/>
            <a:ext cx="5248441" cy="518021"/>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Dataset — Not used; answers are generated by the pre-trained Gemini model</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Python Package Index (streamlit, google-genai) — https://pypi.org</a:t>
            </a:r>
            <a:endParaRPr lang="en-US" sz="1200" dirty="0"/>
          </a:p>
        </p:txBody>
      </p:sp>
      <p:sp>
        <p:nvSpPr>
          <p:cNvPr id="12" name="Text 10"/>
          <p:cNvSpPr/>
          <p:nvPr/>
        </p:nvSpPr>
        <p:spPr>
          <a:xfrm>
            <a:off x="6288129" y="2140347"/>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Books &amp; Articles</a:t>
            </a:r>
            <a:endParaRPr lang="en-US" sz="1500" dirty="0"/>
          </a:p>
        </p:txBody>
      </p:sp>
      <p:sp>
        <p:nvSpPr>
          <p:cNvPr id="13" name="Text 11"/>
          <p:cNvSpPr/>
          <p:nvPr/>
        </p:nvSpPr>
        <p:spPr>
          <a:xfrm>
            <a:off x="6288129" y="2519065"/>
            <a:ext cx="5248441" cy="518021"/>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S. Russell and P. Norvig, </a:t>
            </a:r>
            <a:r>
              <a:rPr lang="en-US" sz="1200" i="1" dirty="0">
                <a:solidFill>
                  <a:srgbClr val="000000"/>
                </a:solidFill>
                <a:latin typeface="Inter" pitchFamily="34" charset="0"/>
                <a:ea typeface="Inter" pitchFamily="34" charset="-122"/>
                <a:cs typeface="Inter" pitchFamily="34" charset="-120"/>
              </a:rPr>
              <a:t>Artificial Intelligence: A Modern Approach</a:t>
            </a:r>
            <a:r>
              <a:rPr lang="en-US" sz="1200" dirty="0">
                <a:solidFill>
                  <a:srgbClr val="000000"/>
                </a:solidFill>
                <a:latin typeface="Inter" pitchFamily="34" charset="0"/>
                <a:ea typeface="Inter" pitchFamily="34" charset="-122"/>
                <a:cs typeface="Inter" pitchFamily="34" charset="-120"/>
              </a:rPr>
              <a:t>, Pearson, 2020.</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A. Géron, </a:t>
            </a:r>
            <a:r>
              <a:rPr lang="en-US" sz="1200" i="1" dirty="0">
                <a:solidFill>
                  <a:srgbClr val="000000"/>
                </a:solidFill>
                <a:latin typeface="Inter" pitchFamily="34" charset="0"/>
                <a:ea typeface="Inter" pitchFamily="34" charset="-122"/>
                <a:cs typeface="Inter" pitchFamily="34" charset="-120"/>
              </a:rPr>
              <a:t>Hands-On Machine Learning with Scikit-Learn, Keras and TensorFlow</a:t>
            </a:r>
            <a:r>
              <a:rPr lang="en-US" sz="1200" dirty="0">
                <a:solidFill>
                  <a:srgbClr val="000000"/>
                </a:solidFill>
                <a:latin typeface="Inter" pitchFamily="34" charset="0"/>
                <a:ea typeface="Inter" pitchFamily="34" charset="-122"/>
                <a:cs typeface="Inter" pitchFamily="34" charset="-120"/>
              </a:rPr>
              <a:t>, O'Reilly, 2022.</a:t>
            </a:r>
            <a:endParaRPr lang="en-US" sz="1200" dirty="0"/>
          </a:p>
        </p:txBody>
      </p:sp>
      <p:sp>
        <p:nvSpPr>
          <p:cNvPr id="14" name="Text 12"/>
          <p:cNvSpPr/>
          <p:nvPr/>
        </p:nvSpPr>
        <p:spPr>
          <a:xfrm>
            <a:off x="6288129" y="3177580"/>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Websites &amp; Tutorials</a:t>
            </a:r>
            <a:endParaRPr lang="en-US" sz="1500" dirty="0"/>
          </a:p>
        </p:txBody>
      </p:sp>
      <p:sp>
        <p:nvSpPr>
          <p:cNvPr id="15" name="Text 13"/>
          <p:cNvSpPr/>
          <p:nvPr/>
        </p:nvSpPr>
        <p:spPr>
          <a:xfrm>
            <a:off x="6288129" y="3556298"/>
            <a:ext cx="5248441" cy="518021"/>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Streamlit Documentation — https://docs.streamlit.io</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Python Official Documentation — https://docs.python.org</a:t>
            </a:r>
            <a:endParaRPr lang="en-US" sz="1200" dirty="0"/>
          </a:p>
        </p:txBody>
      </p:sp>
      <p:sp>
        <p:nvSpPr>
          <p:cNvPr id="16" name="Text 14"/>
          <p:cNvSpPr/>
          <p:nvPr/>
        </p:nvSpPr>
        <p:spPr>
          <a:xfrm>
            <a:off x="6288129" y="4214813"/>
            <a:ext cx="5248441" cy="238224"/>
          </a:xfrm>
          <a:prstGeom prst="rect">
            <a:avLst/>
          </a:prstGeom>
          <a:noFill/>
          <a:ln/>
        </p:spPr>
        <p:txBody>
          <a:bodyPr wrap="none" lIns="0" tIns="0" rIns="0" bIns="0" rtlCol="0" anchor="t"/>
          <a:lstStyle/>
          <a:p>
            <a:pPr marL="0" indent="0" algn="l">
              <a:lnSpc>
                <a:spcPct val="104000"/>
              </a:lnSpc>
              <a:buNone/>
            </a:pPr>
            <a:r>
              <a:rPr lang="en-US" sz="1500" b="1" dirty="0">
                <a:solidFill>
                  <a:srgbClr val="000000"/>
                </a:solidFill>
                <a:latin typeface="Inter Bold" pitchFamily="34" charset="0"/>
                <a:ea typeface="Inter Bold" pitchFamily="34" charset="-122"/>
                <a:cs typeface="Inter Bold" pitchFamily="34" charset="-120"/>
              </a:rPr>
              <a:t>GitHub Repositories</a:t>
            </a:r>
            <a:endParaRPr lang="en-US" sz="1500" dirty="0"/>
          </a:p>
        </p:txBody>
      </p:sp>
      <p:sp>
        <p:nvSpPr>
          <p:cNvPr id="17" name="Text 15"/>
          <p:cNvSpPr/>
          <p:nvPr/>
        </p:nvSpPr>
        <p:spPr>
          <a:xfrm>
            <a:off x="6288129" y="4593530"/>
            <a:ext cx="5248441" cy="518021"/>
          </a:xfrm>
          <a:prstGeom prst="rect">
            <a:avLst/>
          </a:prstGeom>
          <a:noFill/>
          <a:ln/>
        </p:spPr>
        <p:txBody>
          <a:bodyPr wrap="square" lIns="0" tIns="0" rIns="0" bIns="0" rtlCol="0" anchor="t">
            <a:normAutofit/>
          </a:bodyPr>
          <a:lstStyle/>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Streamlit — https://github.com/streamlit/streamlit</a:t>
            </a:r>
            <a:endParaRPr lang="en-US" sz="1200" dirty="0"/>
          </a:p>
          <a:p>
            <a:pPr marL="243840" indent="-243840" algn="l">
              <a:lnSpc>
                <a:spcPct val="128000"/>
              </a:lnSpc>
              <a:buSzPct val="100000"/>
              <a:buChar char="•"/>
            </a:pPr>
            <a:r>
              <a:rPr lang="en-US" sz="1200" dirty="0">
                <a:solidFill>
                  <a:srgbClr val="000000"/>
                </a:solidFill>
                <a:latin typeface="Inter" pitchFamily="34" charset="0"/>
                <a:ea typeface="Inter" pitchFamily="34" charset="-122"/>
                <a:cs typeface="Inter" pitchFamily="34" charset="-120"/>
              </a:rPr>
              <a:t>Google GenAI Python SDK — https://github.com/googleapis/python-genai</a:t>
            </a:r>
            <a:endParaRPr lang="en-US" sz="1200" dirty="0"/>
          </a:p>
        </p:txBody>
      </p:sp>
      <p:sp>
        <p:nvSpPr>
          <p:cNvPr id="18" name="Shape 16"/>
          <p:cNvSpPr/>
          <p:nvPr/>
        </p:nvSpPr>
        <p:spPr>
          <a:xfrm>
            <a:off x="6288129" y="5269607"/>
            <a:ext cx="5248441" cy="798116"/>
          </a:xfrm>
          <a:prstGeom prst="roundRect">
            <a:avLst>
              <a:gd name="adj" fmla="val 8024"/>
            </a:avLst>
          </a:prstGeom>
          <a:solidFill>
            <a:srgbClr val="D9DFF2"/>
          </a:solidFill>
          <a:ln/>
        </p:spPr>
      </p:sp>
      <p:pic>
        <p:nvPicPr>
          <p:cNvPr id="19" name="Image 0" descr="preencoded.png"/>
          <p:cNvPicPr>
            <a:picLocks noChangeAspect="1"/>
          </p:cNvPicPr>
          <p:nvPr/>
        </p:nvPicPr>
        <p:blipFill>
          <a:blip r:embed="rId3"/>
          <a:stretch>
            <a:fillRect/>
          </a:stretch>
        </p:blipFill>
        <p:spPr>
          <a:xfrm>
            <a:off x="6440525" y="5479951"/>
            <a:ext cx="190495" cy="152400"/>
          </a:xfrm>
          <a:prstGeom prst="rect">
            <a:avLst/>
          </a:prstGeom>
        </p:spPr>
      </p:pic>
      <p:sp>
        <p:nvSpPr>
          <p:cNvPr id="20" name="Text 17"/>
          <p:cNvSpPr/>
          <p:nvPr/>
        </p:nvSpPr>
        <p:spPr>
          <a:xfrm>
            <a:off x="6783416" y="5434211"/>
            <a:ext cx="4600758" cy="468908"/>
          </a:xfrm>
          <a:prstGeom prst="rect">
            <a:avLst/>
          </a:prstGeom>
          <a:noFill/>
          <a:ln/>
        </p:spPr>
        <p:txBody>
          <a:bodyPr wrap="square" lIns="0" tIns="0" rIns="0" bIns="0" rtlCol="0" anchor="t">
            <a:normAutofit/>
          </a:bodyPr>
          <a:lstStyle/>
          <a:p>
            <a:pPr marL="0" indent="0" algn="l">
              <a:lnSpc>
                <a:spcPct val="128000"/>
              </a:lnSpc>
              <a:buNone/>
            </a:pPr>
            <a:r>
              <a:rPr lang="en-US" sz="1200" dirty="0">
                <a:solidFill>
                  <a:srgbClr val="000000"/>
                </a:solidFill>
                <a:latin typeface="Inter" pitchFamily="34" charset="0"/>
                <a:ea typeface="Inter" pitchFamily="34" charset="-122"/>
                <a:cs typeface="Inter" pitchFamily="34" charset="-120"/>
              </a:rPr>
              <a:t>Use a consistent citation style (e.g., IEEE or APA) throughout this section. Replace all placeholders with actual sources used.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1985</Words>
  <Application>Microsoft Office PowerPoint</Application>
  <PresentationFormat>Widescreen</PresentationFormat>
  <Paragraphs>209</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Inter</vt:lpstr>
      <vt:lpstr>Inter Light</vt:lpstr>
      <vt:lpstr>Inter Bold</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Raghavendra Rao Shambu Mahendrakar</cp:lastModifiedBy>
  <cp:revision>1</cp:revision>
  <dcterms:created xsi:type="dcterms:W3CDTF">2026-09-29T12:51:20Z</dcterms:created>
  <dcterms:modified xsi:type="dcterms:W3CDTF">2026-09-29T12:52:33Z</dcterms:modified>
</cp:coreProperties>
</file>